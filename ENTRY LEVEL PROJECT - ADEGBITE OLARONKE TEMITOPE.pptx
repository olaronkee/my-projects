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73" r:id="rId3"/>
    <p:sldId id="276" r:id="rId4"/>
    <p:sldId id="260" r:id="rId5"/>
    <p:sldId id="267" r:id="rId6"/>
    <p:sldId id="274" r:id="rId7"/>
    <p:sldId id="268" r:id="rId8"/>
    <p:sldId id="275" r:id="rId9"/>
    <p:sldId id="270" r:id="rId10"/>
    <p:sldId id="272" r:id="rId11"/>
    <p:sldId id="261" r:id="rId12"/>
    <p:sldId id="26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90929"/>
    <a:srgbClr val="BEE23C"/>
    <a:srgbClr val="63174F"/>
    <a:srgbClr val="3DC7A9"/>
    <a:srgbClr val="CA30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5455" autoAdjust="0"/>
  </p:normalViewPr>
  <p:slideViewPr>
    <p:cSldViewPr snapToGrid="0">
      <p:cViewPr varScale="1">
        <p:scale>
          <a:sx n="83" d="100"/>
          <a:sy n="83" d="100"/>
        </p:scale>
        <p:origin x="77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17B3A10-FA87-4D22-A3AC-17AF1DCA9EC5}" type="doc">
      <dgm:prSet loTypeId="urn:microsoft.com/office/officeart/2005/8/layout/vList2" loCatId="list" qsTypeId="urn:microsoft.com/office/officeart/2005/8/quickstyle/simple4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8BE5B7F5-D07A-42F0-AFF2-E042E65EA8F0}" type="pres">
      <dgm:prSet presAssocID="{E17B3A10-FA87-4D22-A3AC-17AF1DCA9EC5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</dgm:ptLst>
  <dgm:cxnLst>
    <dgm:cxn modelId="{4434910C-E964-45B3-AEDA-64C5C6130385}" type="presOf" srcId="{E17B3A10-FA87-4D22-A3AC-17AF1DCA9EC5}" destId="{8BE5B7F5-D07A-42F0-AFF2-E042E65EA8F0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F918A23-8179-4DB2-88F3-E9328FB85134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4AAA32C7-6E11-4491-ABC0-458178B6A2E6}">
      <dgm:prSet custT="1"/>
      <dgm:spPr/>
      <dgm:t>
        <a:bodyPr/>
        <a:lstStyle/>
        <a:p>
          <a:r>
            <a:rPr lang="en-US" sz="2300" dirty="0"/>
            <a:t>Recommendation</a:t>
          </a:r>
        </a:p>
      </dgm:t>
    </dgm:pt>
    <dgm:pt modelId="{13274481-8866-4C14-A1D4-0012DD293A67}" type="parTrans" cxnId="{45FD0053-3A31-49BF-8370-06EDC7485670}">
      <dgm:prSet/>
      <dgm:spPr/>
      <dgm:t>
        <a:bodyPr/>
        <a:lstStyle/>
        <a:p>
          <a:endParaRPr lang="en-US"/>
        </a:p>
      </dgm:t>
    </dgm:pt>
    <dgm:pt modelId="{A84B0F1E-7848-4A0E-A906-1B480C980DB6}" type="sibTrans" cxnId="{45FD0053-3A31-49BF-8370-06EDC7485670}">
      <dgm:prSet/>
      <dgm:spPr/>
      <dgm:t>
        <a:bodyPr/>
        <a:lstStyle/>
        <a:p>
          <a:endParaRPr lang="en-US"/>
        </a:p>
      </dgm:t>
    </dgm:pt>
    <dgm:pt modelId="{CB5B4FB4-AC75-459C-976A-2B15B6C64570}">
      <dgm:prSet custT="1"/>
      <dgm:spPr/>
      <dgm:t>
        <a:bodyPr/>
        <a:lstStyle/>
        <a:p>
          <a:r>
            <a:rPr lang="en-US" sz="1800" dirty="0" smtClean="0">
              <a:latin typeface="Century Gothic" panose="020B0502020202020204" pitchFamily="34" charset="0"/>
            </a:rPr>
            <a:t>More sport related genre of games should be produced.</a:t>
          </a:r>
          <a:endParaRPr lang="en-US" sz="1800" dirty="0">
            <a:latin typeface="Century Gothic" panose="020B0502020202020204" pitchFamily="34" charset="0"/>
          </a:endParaRPr>
        </a:p>
      </dgm:t>
    </dgm:pt>
    <dgm:pt modelId="{C457B198-22A5-4260-871F-A1EAFFFC8857}" type="parTrans" cxnId="{44EEBC1D-736E-4E0E-BEB6-AC97ED4CC9FF}">
      <dgm:prSet/>
      <dgm:spPr/>
      <dgm:t>
        <a:bodyPr/>
        <a:lstStyle/>
        <a:p>
          <a:endParaRPr lang="en-US"/>
        </a:p>
      </dgm:t>
    </dgm:pt>
    <dgm:pt modelId="{01EEBE84-8FD8-4D96-B19F-9EC05F1D8FE9}" type="sibTrans" cxnId="{44EEBC1D-736E-4E0E-BEB6-AC97ED4CC9FF}">
      <dgm:prSet/>
      <dgm:spPr/>
      <dgm:t>
        <a:bodyPr/>
        <a:lstStyle/>
        <a:p>
          <a:endParaRPr lang="en-US"/>
        </a:p>
      </dgm:t>
    </dgm:pt>
    <dgm:pt modelId="{5A5050ED-A432-470D-84E1-BD51DFF4A7DA}">
      <dgm:prSet custT="1"/>
      <dgm:spPr/>
      <dgm:t>
        <a:bodyPr/>
        <a:lstStyle/>
        <a:p>
          <a:r>
            <a:rPr lang="en-US" sz="1800" dirty="0" smtClean="0">
              <a:latin typeface="Century Gothic" panose="020B0502020202020204" pitchFamily="34" charset="0"/>
            </a:rPr>
            <a:t>“Strategy” and “Puzzle” should be discontinued as a genre of game.</a:t>
          </a:r>
          <a:endParaRPr lang="en-US" sz="1800" dirty="0">
            <a:latin typeface="Century Gothic" panose="020B0502020202020204" pitchFamily="34" charset="0"/>
          </a:endParaRPr>
        </a:p>
      </dgm:t>
    </dgm:pt>
    <dgm:pt modelId="{98827052-DBE6-4E82-B186-DF4AE0C00B7D}" type="parTrans" cxnId="{D6C9F87A-2298-475F-8DEA-479D786CE6C8}">
      <dgm:prSet/>
      <dgm:spPr/>
      <dgm:t>
        <a:bodyPr/>
        <a:lstStyle/>
        <a:p>
          <a:endParaRPr lang="en-US"/>
        </a:p>
      </dgm:t>
    </dgm:pt>
    <dgm:pt modelId="{143CACAC-C38B-4678-9BA3-85D95156635B}" type="sibTrans" cxnId="{D6C9F87A-2298-475F-8DEA-479D786CE6C8}">
      <dgm:prSet/>
      <dgm:spPr/>
      <dgm:t>
        <a:bodyPr/>
        <a:lstStyle/>
        <a:p>
          <a:endParaRPr lang="en-US"/>
        </a:p>
      </dgm:t>
    </dgm:pt>
    <dgm:pt modelId="{C83B1B65-1635-45D2-97FD-7F39C44289B9}">
      <dgm:prSet custT="1"/>
      <dgm:spPr/>
      <dgm:t>
        <a:bodyPr/>
        <a:lstStyle/>
        <a:p>
          <a:r>
            <a:rPr lang="en-US" sz="1800" dirty="0" smtClean="0">
              <a:latin typeface="Century Gothic" panose="020B0502020202020204" pitchFamily="34" charset="0"/>
            </a:rPr>
            <a:t>More games should be published by “Nintendo”</a:t>
          </a:r>
          <a:endParaRPr lang="en-US" sz="1800" dirty="0">
            <a:latin typeface="Century Gothic" panose="020B0502020202020204" pitchFamily="34" charset="0"/>
          </a:endParaRPr>
        </a:p>
      </dgm:t>
    </dgm:pt>
    <dgm:pt modelId="{E8D3487E-7047-4085-B0B8-A972205191AD}" type="parTrans" cxnId="{24C9988E-DCEF-4169-9E3B-9E7B1E102A37}">
      <dgm:prSet/>
      <dgm:spPr/>
      <dgm:t>
        <a:bodyPr/>
        <a:lstStyle/>
        <a:p>
          <a:endParaRPr lang="en-US"/>
        </a:p>
      </dgm:t>
    </dgm:pt>
    <dgm:pt modelId="{F5B53260-0F6A-4651-AEA4-3B2F78F063D9}" type="sibTrans" cxnId="{24C9988E-DCEF-4169-9E3B-9E7B1E102A37}">
      <dgm:prSet/>
      <dgm:spPr/>
      <dgm:t>
        <a:bodyPr/>
        <a:lstStyle/>
        <a:p>
          <a:endParaRPr lang="en-US"/>
        </a:p>
      </dgm:t>
    </dgm:pt>
    <dgm:pt modelId="{5F176E38-EF12-4676-B5ED-2E0025D7261D}">
      <dgm:prSet custT="1"/>
      <dgm:spPr/>
      <dgm:t>
        <a:bodyPr/>
        <a:lstStyle/>
        <a:p>
          <a:r>
            <a:rPr lang="en-US" sz="1800" dirty="0" smtClean="0">
              <a:latin typeface="Century Gothic" panose="020B0502020202020204" pitchFamily="34" charset="0"/>
            </a:rPr>
            <a:t>“Namco Bandal games” and “Konami Digital Entertainment” should be discontinued from publishing games.</a:t>
          </a:r>
          <a:endParaRPr lang="en-US" sz="1800" dirty="0">
            <a:latin typeface="Century Gothic" panose="020B0502020202020204" pitchFamily="34" charset="0"/>
          </a:endParaRPr>
        </a:p>
      </dgm:t>
    </dgm:pt>
    <dgm:pt modelId="{361AB1D0-A433-47E8-8B92-5BBC591C5AB9}" type="parTrans" cxnId="{58F17F0F-D197-4C2F-A82D-AC394F5FAA79}">
      <dgm:prSet/>
      <dgm:spPr/>
      <dgm:t>
        <a:bodyPr/>
        <a:lstStyle/>
        <a:p>
          <a:endParaRPr lang="en-US"/>
        </a:p>
      </dgm:t>
    </dgm:pt>
    <dgm:pt modelId="{7A0F1082-0A1E-4724-839E-97C5A53D714B}" type="sibTrans" cxnId="{58F17F0F-D197-4C2F-A82D-AC394F5FAA79}">
      <dgm:prSet/>
      <dgm:spPr/>
      <dgm:t>
        <a:bodyPr/>
        <a:lstStyle/>
        <a:p>
          <a:endParaRPr lang="en-US"/>
        </a:p>
      </dgm:t>
    </dgm:pt>
    <dgm:pt modelId="{334AE899-9A1B-4EC8-8473-CBE6C85F7055}">
      <dgm:prSet custT="1"/>
      <dgm:spPr/>
      <dgm:t>
        <a:bodyPr/>
        <a:lstStyle/>
        <a:p>
          <a:r>
            <a:rPr lang="en-US" sz="1800" dirty="0" smtClean="0">
              <a:latin typeface="Century Gothic" panose="020B0502020202020204" pitchFamily="34" charset="0"/>
            </a:rPr>
            <a:t>Generally, more games should be introduced in order to improve sales performance globally.</a:t>
          </a:r>
          <a:endParaRPr lang="en-US" sz="1800" dirty="0">
            <a:latin typeface="Century Gothic" panose="020B0502020202020204" pitchFamily="34" charset="0"/>
          </a:endParaRPr>
        </a:p>
      </dgm:t>
    </dgm:pt>
    <dgm:pt modelId="{A5215A66-86E8-4465-A8A5-A3C01EAC9E1A}" type="parTrans" cxnId="{DFCF45B2-606B-4046-BE7A-BFA1B57BE938}">
      <dgm:prSet/>
      <dgm:spPr/>
      <dgm:t>
        <a:bodyPr/>
        <a:lstStyle/>
        <a:p>
          <a:endParaRPr lang="en-US"/>
        </a:p>
      </dgm:t>
    </dgm:pt>
    <dgm:pt modelId="{2F2A0A90-8CE1-49D6-B98A-14118F373541}" type="sibTrans" cxnId="{DFCF45B2-606B-4046-BE7A-BFA1B57BE938}">
      <dgm:prSet/>
      <dgm:spPr/>
      <dgm:t>
        <a:bodyPr/>
        <a:lstStyle/>
        <a:p>
          <a:endParaRPr lang="en-US"/>
        </a:p>
      </dgm:t>
    </dgm:pt>
    <dgm:pt modelId="{144174E0-94A6-48FE-BA98-FD4706965E2D}" type="pres">
      <dgm:prSet presAssocID="{DF918A23-8179-4DB2-88F3-E9328FB85134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9C74FEAA-2656-4096-9F45-1DCEB8ABC75F}" type="pres">
      <dgm:prSet presAssocID="{4AAA32C7-6E11-4491-ABC0-458178B6A2E6}" presName="parentText" presStyleLbl="node1" presStyleIdx="0" presStyleCnt="1" custScaleY="60605" custLinFactNeighborX="-511" custLinFactNeighborY="-18948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42E212F-05DC-4899-A098-13057F9A962C}" type="pres">
      <dgm:prSet presAssocID="{4AAA32C7-6E11-4491-ABC0-458178B6A2E6}" presName="childText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12D6A66-FD93-4F43-99C9-C6641EC894B4}" type="presOf" srcId="{5F176E38-EF12-4676-B5ED-2E0025D7261D}" destId="{F42E212F-05DC-4899-A098-13057F9A962C}" srcOrd="0" destOrd="4" presId="urn:microsoft.com/office/officeart/2005/8/layout/vList2"/>
    <dgm:cxn modelId="{58F17F0F-D197-4C2F-A82D-AC394F5FAA79}" srcId="{4AAA32C7-6E11-4491-ABC0-458178B6A2E6}" destId="{5F176E38-EF12-4676-B5ED-2E0025D7261D}" srcOrd="4" destOrd="0" parTransId="{361AB1D0-A433-47E8-8B92-5BBC591C5AB9}" sibTransId="{7A0F1082-0A1E-4724-839E-97C5A53D714B}"/>
    <dgm:cxn modelId="{D96363EE-F92D-4C74-919C-52F6CF16E11E}" type="presOf" srcId="{5A5050ED-A432-470D-84E1-BD51DFF4A7DA}" destId="{F42E212F-05DC-4899-A098-13057F9A962C}" srcOrd="0" destOrd="2" presId="urn:microsoft.com/office/officeart/2005/8/layout/vList2"/>
    <dgm:cxn modelId="{5490BC84-929C-4877-A4A2-FD5D9779653F}" type="presOf" srcId="{4AAA32C7-6E11-4491-ABC0-458178B6A2E6}" destId="{9C74FEAA-2656-4096-9F45-1DCEB8ABC75F}" srcOrd="0" destOrd="0" presId="urn:microsoft.com/office/officeart/2005/8/layout/vList2"/>
    <dgm:cxn modelId="{D6C9F87A-2298-475F-8DEA-479D786CE6C8}" srcId="{4AAA32C7-6E11-4491-ABC0-458178B6A2E6}" destId="{5A5050ED-A432-470D-84E1-BD51DFF4A7DA}" srcOrd="2" destOrd="0" parTransId="{98827052-DBE6-4E82-B186-DF4AE0C00B7D}" sibTransId="{143CACAC-C38B-4678-9BA3-85D95156635B}"/>
    <dgm:cxn modelId="{6159DAB6-7A1A-4A89-9263-B516F8845F87}" type="presOf" srcId="{DF918A23-8179-4DB2-88F3-E9328FB85134}" destId="{144174E0-94A6-48FE-BA98-FD4706965E2D}" srcOrd="0" destOrd="0" presId="urn:microsoft.com/office/officeart/2005/8/layout/vList2"/>
    <dgm:cxn modelId="{DFCF45B2-606B-4046-BE7A-BFA1B57BE938}" srcId="{4AAA32C7-6E11-4491-ABC0-458178B6A2E6}" destId="{334AE899-9A1B-4EC8-8473-CBE6C85F7055}" srcOrd="1" destOrd="0" parTransId="{A5215A66-86E8-4465-A8A5-A3C01EAC9E1A}" sibTransId="{2F2A0A90-8CE1-49D6-B98A-14118F373541}"/>
    <dgm:cxn modelId="{45FD0053-3A31-49BF-8370-06EDC7485670}" srcId="{DF918A23-8179-4DB2-88F3-E9328FB85134}" destId="{4AAA32C7-6E11-4491-ABC0-458178B6A2E6}" srcOrd="0" destOrd="0" parTransId="{13274481-8866-4C14-A1D4-0012DD293A67}" sibTransId="{A84B0F1E-7848-4A0E-A906-1B480C980DB6}"/>
    <dgm:cxn modelId="{44EEBC1D-736E-4E0E-BEB6-AC97ED4CC9FF}" srcId="{4AAA32C7-6E11-4491-ABC0-458178B6A2E6}" destId="{CB5B4FB4-AC75-459C-976A-2B15B6C64570}" srcOrd="0" destOrd="0" parTransId="{C457B198-22A5-4260-871F-A1EAFFFC8857}" sibTransId="{01EEBE84-8FD8-4D96-B19F-9EC05F1D8FE9}"/>
    <dgm:cxn modelId="{0889BAD0-11EE-487A-BA75-B4709A0FF02D}" type="presOf" srcId="{C83B1B65-1635-45D2-97FD-7F39C44289B9}" destId="{F42E212F-05DC-4899-A098-13057F9A962C}" srcOrd="0" destOrd="3" presId="urn:microsoft.com/office/officeart/2005/8/layout/vList2"/>
    <dgm:cxn modelId="{24C9988E-DCEF-4169-9E3B-9E7B1E102A37}" srcId="{4AAA32C7-6E11-4491-ABC0-458178B6A2E6}" destId="{C83B1B65-1635-45D2-97FD-7F39C44289B9}" srcOrd="3" destOrd="0" parTransId="{E8D3487E-7047-4085-B0B8-A972205191AD}" sibTransId="{F5B53260-0F6A-4651-AEA4-3B2F78F063D9}"/>
    <dgm:cxn modelId="{7F253290-3189-4A2C-9547-9118D6566DFB}" type="presOf" srcId="{CB5B4FB4-AC75-459C-976A-2B15B6C64570}" destId="{F42E212F-05DC-4899-A098-13057F9A962C}" srcOrd="0" destOrd="0" presId="urn:microsoft.com/office/officeart/2005/8/layout/vList2"/>
    <dgm:cxn modelId="{820053BD-842C-4260-92A5-80A9C5B35D4D}" type="presOf" srcId="{334AE899-9A1B-4EC8-8473-CBE6C85F7055}" destId="{F42E212F-05DC-4899-A098-13057F9A962C}" srcOrd="0" destOrd="1" presId="urn:microsoft.com/office/officeart/2005/8/layout/vList2"/>
    <dgm:cxn modelId="{90963F3F-9D41-41D9-982E-382E6945D229}" type="presParOf" srcId="{144174E0-94A6-48FE-BA98-FD4706965E2D}" destId="{9C74FEAA-2656-4096-9F45-1DCEB8ABC75F}" srcOrd="0" destOrd="0" presId="urn:microsoft.com/office/officeart/2005/8/layout/vList2"/>
    <dgm:cxn modelId="{A6223873-46BD-49F6-8AA3-488BEC896029}" type="presParOf" srcId="{144174E0-94A6-48FE-BA98-FD4706965E2D}" destId="{F42E212F-05DC-4899-A098-13057F9A962C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A13EAB8-EDC5-49D7-ABCF-141E82C0FDEC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3B367B00-6BE9-491F-83A2-3A6DB0615836}">
      <dgm:prSet/>
      <dgm:spPr/>
      <dgm:t>
        <a:bodyPr/>
        <a:lstStyle/>
        <a:p>
          <a:r>
            <a:rPr lang="en-US" dirty="0"/>
            <a:t>Conclusion</a:t>
          </a:r>
        </a:p>
      </dgm:t>
    </dgm:pt>
    <dgm:pt modelId="{AC6C48D5-DD6E-430A-8187-7089F2C986CD}" type="parTrans" cxnId="{8B26E597-D42A-442D-9212-2B9AE2CF5431}">
      <dgm:prSet/>
      <dgm:spPr/>
      <dgm:t>
        <a:bodyPr/>
        <a:lstStyle/>
        <a:p>
          <a:endParaRPr lang="en-US"/>
        </a:p>
      </dgm:t>
    </dgm:pt>
    <dgm:pt modelId="{0D91BA66-8549-4242-8602-65C552D53D67}" type="sibTrans" cxnId="{8B26E597-D42A-442D-9212-2B9AE2CF5431}">
      <dgm:prSet/>
      <dgm:spPr/>
      <dgm:t>
        <a:bodyPr/>
        <a:lstStyle/>
        <a:p>
          <a:endParaRPr lang="en-US"/>
        </a:p>
      </dgm:t>
    </dgm:pt>
    <dgm:pt modelId="{AFE0B6CA-1451-4500-97A6-02E3E3B87032}">
      <dgm:prSet/>
      <dgm:spPr/>
      <dgm:t>
        <a:bodyPr/>
        <a:lstStyle/>
        <a:p>
          <a:pPr algn="just"/>
          <a:r>
            <a:rPr lang="en-US" dirty="0" smtClean="0">
              <a:solidFill>
                <a:schemeClr val="tx1"/>
              </a:solidFill>
              <a:latin typeface="Century Gothic" panose="020B0502020202020204" pitchFamily="34" charset="0"/>
            </a:rPr>
            <a:t>Wii Sports </a:t>
          </a:r>
          <a:r>
            <a:rPr lang="en-US" dirty="0" smtClean="0">
              <a:latin typeface="Century Gothic" panose="020B0502020202020204" pitchFamily="34" charset="0"/>
            </a:rPr>
            <a:t>games were the best performing games, driving more revenue generation.</a:t>
          </a:r>
          <a:endParaRPr lang="en-US" dirty="0">
            <a:latin typeface="Century Gothic" panose="020B0502020202020204" pitchFamily="34" charset="0"/>
          </a:endParaRPr>
        </a:p>
      </dgm:t>
    </dgm:pt>
    <dgm:pt modelId="{F4944C5C-E640-422A-9570-213745E19B04}" type="parTrans" cxnId="{7B718EE4-9EE4-48B2-9768-2D1E908F9574}">
      <dgm:prSet/>
      <dgm:spPr/>
      <dgm:t>
        <a:bodyPr/>
        <a:lstStyle/>
        <a:p>
          <a:endParaRPr lang="en-US"/>
        </a:p>
      </dgm:t>
    </dgm:pt>
    <dgm:pt modelId="{9143B8BB-07AC-4166-A67F-D803C8D13395}" type="sibTrans" cxnId="{7B718EE4-9EE4-48B2-9768-2D1E908F9574}">
      <dgm:prSet/>
      <dgm:spPr/>
      <dgm:t>
        <a:bodyPr/>
        <a:lstStyle/>
        <a:p>
          <a:endParaRPr lang="en-US"/>
        </a:p>
      </dgm:t>
    </dgm:pt>
    <dgm:pt modelId="{F1A896ED-6F59-4890-AA06-631ACA4694BA}">
      <dgm:prSet/>
      <dgm:spPr/>
      <dgm:t>
        <a:bodyPr/>
        <a:lstStyle/>
        <a:p>
          <a:pPr algn="l"/>
          <a:r>
            <a:rPr lang="en-US" dirty="0" smtClean="0">
              <a:latin typeface="Century Gothic" panose="020B0502020202020204" pitchFamily="34" charset="0"/>
            </a:rPr>
            <a:t>People are not interested in “strategy” and “puzzle” genres of game.</a:t>
          </a:r>
          <a:endParaRPr lang="en-US" dirty="0">
            <a:latin typeface="Century Gothic" panose="020B0502020202020204" pitchFamily="34" charset="0"/>
          </a:endParaRPr>
        </a:p>
      </dgm:t>
    </dgm:pt>
    <dgm:pt modelId="{8A0E96E8-FCCE-4712-8336-7FA46C3B73EC}" type="parTrans" cxnId="{0645D357-CA10-43F5-974D-533B55F9179D}">
      <dgm:prSet/>
      <dgm:spPr/>
      <dgm:t>
        <a:bodyPr/>
        <a:lstStyle/>
        <a:p>
          <a:endParaRPr lang="en-US"/>
        </a:p>
      </dgm:t>
    </dgm:pt>
    <dgm:pt modelId="{374C6D4D-3BD1-468E-B658-AED5EC45999C}" type="sibTrans" cxnId="{0645D357-CA10-43F5-974D-533B55F9179D}">
      <dgm:prSet/>
      <dgm:spPr/>
      <dgm:t>
        <a:bodyPr/>
        <a:lstStyle/>
        <a:p>
          <a:endParaRPr lang="en-US"/>
        </a:p>
      </dgm:t>
    </dgm:pt>
    <dgm:pt modelId="{66AA3149-D3DE-45AF-8269-B0B3832A6D16}">
      <dgm:prSet/>
      <dgm:spPr/>
      <dgm:t>
        <a:bodyPr/>
        <a:lstStyle/>
        <a:p>
          <a:pPr algn="l"/>
          <a:r>
            <a:rPr lang="en-US" dirty="0" smtClean="0">
              <a:latin typeface="Century Gothic" panose="020B0502020202020204" pitchFamily="34" charset="0"/>
            </a:rPr>
            <a:t>In general, sales improved drastically between 2008 and 2010 and dropped afterwards.</a:t>
          </a:r>
          <a:endParaRPr lang="en-US" dirty="0">
            <a:latin typeface="Century Gothic" panose="020B0502020202020204" pitchFamily="34" charset="0"/>
          </a:endParaRPr>
        </a:p>
      </dgm:t>
    </dgm:pt>
    <dgm:pt modelId="{F74803F6-BFA5-4AE8-977B-6D989203D01A}" type="parTrans" cxnId="{0A714261-B0AF-4788-AE47-79FF7762CCD9}">
      <dgm:prSet/>
      <dgm:spPr/>
      <dgm:t>
        <a:bodyPr/>
        <a:lstStyle/>
        <a:p>
          <a:endParaRPr lang="en-US"/>
        </a:p>
      </dgm:t>
    </dgm:pt>
    <dgm:pt modelId="{68C79AE0-9AC4-43C6-A13A-517503659619}" type="sibTrans" cxnId="{0A714261-B0AF-4788-AE47-79FF7762CCD9}">
      <dgm:prSet/>
      <dgm:spPr/>
      <dgm:t>
        <a:bodyPr/>
        <a:lstStyle/>
        <a:p>
          <a:endParaRPr lang="en-US"/>
        </a:p>
      </dgm:t>
    </dgm:pt>
    <dgm:pt modelId="{EE84747E-6144-4E9A-AE69-C19108B16856}">
      <dgm:prSet/>
      <dgm:spPr/>
      <dgm:t>
        <a:bodyPr/>
        <a:lstStyle/>
        <a:p>
          <a:pPr algn="just"/>
          <a:r>
            <a:rPr lang="en-US" dirty="0" smtClean="0">
              <a:latin typeface="Century Gothic" panose="020B0502020202020204" pitchFamily="34" charset="0"/>
            </a:rPr>
            <a:t>For game publishers, the number of games published is not a function of sales.</a:t>
          </a:r>
          <a:endParaRPr lang="en-US" dirty="0">
            <a:latin typeface="Century Gothic" panose="020B0502020202020204" pitchFamily="34" charset="0"/>
          </a:endParaRPr>
        </a:p>
      </dgm:t>
    </dgm:pt>
    <dgm:pt modelId="{1EABF784-1C07-4677-8BB8-137CC823D33B}" type="parTrans" cxnId="{C38257BF-F190-40B2-8BDB-151B7DC56D65}">
      <dgm:prSet/>
      <dgm:spPr/>
      <dgm:t>
        <a:bodyPr/>
        <a:lstStyle/>
        <a:p>
          <a:endParaRPr lang="en-US"/>
        </a:p>
      </dgm:t>
    </dgm:pt>
    <dgm:pt modelId="{260F521B-786B-44C7-B68B-F7B9BAA3CC78}" type="sibTrans" cxnId="{C38257BF-F190-40B2-8BDB-151B7DC56D65}">
      <dgm:prSet/>
      <dgm:spPr/>
      <dgm:t>
        <a:bodyPr/>
        <a:lstStyle/>
        <a:p>
          <a:endParaRPr lang="en-US"/>
        </a:p>
      </dgm:t>
    </dgm:pt>
    <dgm:pt modelId="{411EDD0B-4656-41FA-86B8-C723E3DCEC96}" type="pres">
      <dgm:prSet presAssocID="{2A13EAB8-EDC5-49D7-ABCF-141E82C0FDEC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3ECBBD10-28FF-40ED-9782-718B64A3ABCD}" type="pres">
      <dgm:prSet presAssocID="{3B367B00-6BE9-491F-83A2-3A6DB0615836}" presName="parentText" presStyleLbl="node1" presStyleIdx="0" presStyleCnt="1" custLinFactNeighborX="-1056" custLinFactNeighborY="-1248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A1FD8F6-B804-485C-9869-76485DE469A0}" type="pres">
      <dgm:prSet presAssocID="{3B367B00-6BE9-491F-83A2-3A6DB0615836}" presName="childText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E9657D51-78A9-4FAB-8C86-4D678F135735}" type="presOf" srcId="{F1A896ED-6F59-4890-AA06-631ACA4694BA}" destId="{FA1FD8F6-B804-485C-9869-76485DE469A0}" srcOrd="0" destOrd="3" presId="urn:microsoft.com/office/officeart/2005/8/layout/vList2"/>
    <dgm:cxn modelId="{F12380A6-3C34-4CEA-938B-7A8C36D0D1B1}" type="presOf" srcId="{AFE0B6CA-1451-4500-97A6-02E3E3B87032}" destId="{FA1FD8F6-B804-485C-9869-76485DE469A0}" srcOrd="0" destOrd="0" presId="urn:microsoft.com/office/officeart/2005/8/layout/vList2"/>
    <dgm:cxn modelId="{C38257BF-F190-40B2-8BDB-151B7DC56D65}" srcId="{3B367B00-6BE9-491F-83A2-3A6DB0615836}" destId="{EE84747E-6144-4E9A-AE69-C19108B16856}" srcOrd="2" destOrd="0" parTransId="{1EABF784-1C07-4677-8BB8-137CC823D33B}" sibTransId="{260F521B-786B-44C7-B68B-F7B9BAA3CC78}"/>
    <dgm:cxn modelId="{0645D357-CA10-43F5-974D-533B55F9179D}" srcId="{3B367B00-6BE9-491F-83A2-3A6DB0615836}" destId="{F1A896ED-6F59-4890-AA06-631ACA4694BA}" srcOrd="3" destOrd="0" parTransId="{8A0E96E8-FCCE-4712-8336-7FA46C3B73EC}" sibTransId="{374C6D4D-3BD1-468E-B658-AED5EC45999C}"/>
    <dgm:cxn modelId="{0A714261-B0AF-4788-AE47-79FF7762CCD9}" srcId="{3B367B00-6BE9-491F-83A2-3A6DB0615836}" destId="{66AA3149-D3DE-45AF-8269-B0B3832A6D16}" srcOrd="1" destOrd="0" parTransId="{F74803F6-BFA5-4AE8-977B-6D989203D01A}" sibTransId="{68C79AE0-9AC4-43C6-A13A-517503659619}"/>
    <dgm:cxn modelId="{8B26E597-D42A-442D-9212-2B9AE2CF5431}" srcId="{2A13EAB8-EDC5-49D7-ABCF-141E82C0FDEC}" destId="{3B367B00-6BE9-491F-83A2-3A6DB0615836}" srcOrd="0" destOrd="0" parTransId="{AC6C48D5-DD6E-430A-8187-7089F2C986CD}" sibTransId="{0D91BA66-8549-4242-8602-65C552D53D67}"/>
    <dgm:cxn modelId="{F798475F-4E81-4F23-B0A0-A96246A581B2}" type="presOf" srcId="{2A13EAB8-EDC5-49D7-ABCF-141E82C0FDEC}" destId="{411EDD0B-4656-41FA-86B8-C723E3DCEC96}" srcOrd="0" destOrd="0" presId="urn:microsoft.com/office/officeart/2005/8/layout/vList2"/>
    <dgm:cxn modelId="{60FF5AB1-8856-4DC2-8FBA-E6E219732C1D}" type="presOf" srcId="{EE84747E-6144-4E9A-AE69-C19108B16856}" destId="{FA1FD8F6-B804-485C-9869-76485DE469A0}" srcOrd="0" destOrd="2" presId="urn:microsoft.com/office/officeart/2005/8/layout/vList2"/>
    <dgm:cxn modelId="{7B718EE4-9EE4-48B2-9768-2D1E908F9574}" srcId="{3B367B00-6BE9-491F-83A2-3A6DB0615836}" destId="{AFE0B6CA-1451-4500-97A6-02E3E3B87032}" srcOrd="0" destOrd="0" parTransId="{F4944C5C-E640-422A-9570-213745E19B04}" sibTransId="{9143B8BB-07AC-4166-A67F-D803C8D13395}"/>
    <dgm:cxn modelId="{3C81728B-300B-47C8-906C-713FB61A587A}" type="presOf" srcId="{66AA3149-D3DE-45AF-8269-B0B3832A6D16}" destId="{FA1FD8F6-B804-485C-9869-76485DE469A0}" srcOrd="0" destOrd="1" presId="urn:microsoft.com/office/officeart/2005/8/layout/vList2"/>
    <dgm:cxn modelId="{99FCC989-84E5-4C2E-97BD-9295A5E0F4D8}" type="presOf" srcId="{3B367B00-6BE9-491F-83A2-3A6DB0615836}" destId="{3ECBBD10-28FF-40ED-9782-718B64A3ABCD}" srcOrd="0" destOrd="0" presId="urn:microsoft.com/office/officeart/2005/8/layout/vList2"/>
    <dgm:cxn modelId="{68D34A4D-E4B1-4650-9E4E-BFEC60FE2B34}" type="presParOf" srcId="{411EDD0B-4656-41FA-86B8-C723E3DCEC96}" destId="{3ECBBD10-28FF-40ED-9782-718B64A3ABCD}" srcOrd="0" destOrd="0" presId="urn:microsoft.com/office/officeart/2005/8/layout/vList2"/>
    <dgm:cxn modelId="{2F33B622-1D71-449D-8B1B-5300D49EFC8A}" type="presParOf" srcId="{411EDD0B-4656-41FA-86B8-C723E3DCEC96}" destId="{FA1FD8F6-B804-485C-9869-76485DE469A0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74FEAA-2656-4096-9F45-1DCEB8ABC75F}">
      <dsp:nvSpPr>
        <dsp:cNvPr id="0" name=""/>
        <dsp:cNvSpPr/>
      </dsp:nvSpPr>
      <dsp:spPr>
        <a:xfrm>
          <a:off x="0" y="0"/>
          <a:ext cx="11339050" cy="737441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/>
            <a:t>Recommendation</a:t>
          </a:r>
        </a:p>
      </dsp:txBody>
      <dsp:txXfrm>
        <a:off x="35999" y="35999"/>
        <a:ext cx="11267052" cy="665443"/>
      </dsp:txXfrm>
    </dsp:sp>
    <dsp:sp modelId="{F42E212F-05DC-4899-A098-13057F9A962C}">
      <dsp:nvSpPr>
        <dsp:cNvPr id="0" name=""/>
        <dsp:cNvSpPr/>
      </dsp:nvSpPr>
      <dsp:spPr>
        <a:xfrm>
          <a:off x="0" y="893204"/>
          <a:ext cx="11339050" cy="18164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0015" tIns="22860" rIns="128016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800" kern="1200" dirty="0" smtClean="0">
              <a:latin typeface="Century Gothic" panose="020B0502020202020204" pitchFamily="34" charset="0"/>
            </a:rPr>
            <a:t>More sport related genre of games should be produced.</a:t>
          </a:r>
          <a:endParaRPr lang="en-US" sz="1800" kern="1200" dirty="0">
            <a:latin typeface="Century Gothic" panose="020B0502020202020204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800" kern="1200" dirty="0" smtClean="0">
              <a:latin typeface="Century Gothic" panose="020B0502020202020204" pitchFamily="34" charset="0"/>
            </a:rPr>
            <a:t>Generally, more games should be introduced in order to improve sales performance globally.</a:t>
          </a:r>
          <a:endParaRPr lang="en-US" sz="1800" kern="1200" dirty="0">
            <a:latin typeface="Century Gothic" panose="020B0502020202020204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800" kern="1200" dirty="0" smtClean="0">
              <a:latin typeface="Century Gothic" panose="020B0502020202020204" pitchFamily="34" charset="0"/>
            </a:rPr>
            <a:t>“Strategy” and “Puzzle” should be discontinued as a genre of game.</a:t>
          </a:r>
          <a:endParaRPr lang="en-US" sz="1800" kern="1200" dirty="0">
            <a:latin typeface="Century Gothic" panose="020B0502020202020204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800" kern="1200" dirty="0" smtClean="0">
              <a:latin typeface="Century Gothic" panose="020B0502020202020204" pitchFamily="34" charset="0"/>
            </a:rPr>
            <a:t>More games should be published by “Nintendo”</a:t>
          </a:r>
          <a:endParaRPr lang="en-US" sz="1800" kern="1200" dirty="0">
            <a:latin typeface="Century Gothic" panose="020B0502020202020204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800" kern="1200" dirty="0" smtClean="0">
              <a:latin typeface="Century Gothic" panose="020B0502020202020204" pitchFamily="34" charset="0"/>
            </a:rPr>
            <a:t>“Namco Bandal games” and “Konami Digital Entertainment” should be discontinued from publishing games.</a:t>
          </a:r>
          <a:endParaRPr lang="en-US" sz="1800" kern="1200" dirty="0">
            <a:latin typeface="Century Gothic" panose="020B0502020202020204" pitchFamily="34" charset="0"/>
          </a:endParaRPr>
        </a:p>
      </dsp:txBody>
      <dsp:txXfrm>
        <a:off x="0" y="893204"/>
        <a:ext cx="11339050" cy="181642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CBBD10-28FF-40ED-9782-718B64A3ABCD}">
      <dsp:nvSpPr>
        <dsp:cNvPr id="0" name=""/>
        <dsp:cNvSpPr/>
      </dsp:nvSpPr>
      <dsp:spPr>
        <a:xfrm>
          <a:off x="0" y="0"/>
          <a:ext cx="11339050" cy="59319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/>
            <a:t>Conclusion</a:t>
          </a:r>
        </a:p>
      </dsp:txBody>
      <dsp:txXfrm>
        <a:off x="28957" y="28957"/>
        <a:ext cx="11281136" cy="535276"/>
      </dsp:txXfrm>
    </dsp:sp>
    <dsp:sp modelId="{FA1FD8F6-B804-485C-9869-76485DE469A0}">
      <dsp:nvSpPr>
        <dsp:cNvPr id="0" name=""/>
        <dsp:cNvSpPr/>
      </dsp:nvSpPr>
      <dsp:spPr>
        <a:xfrm>
          <a:off x="0" y="665256"/>
          <a:ext cx="11339050" cy="16684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0015" tIns="33020" rIns="184912" bIns="33020" numCol="1" spcCol="1270" anchor="t" anchorCtr="0">
          <a:noAutofit/>
        </a:bodyPr>
        <a:lstStyle/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000" kern="1200" dirty="0" smtClean="0">
              <a:solidFill>
                <a:schemeClr val="tx1"/>
              </a:solidFill>
              <a:latin typeface="Century Gothic" panose="020B0502020202020204" pitchFamily="34" charset="0"/>
            </a:rPr>
            <a:t>Wii Sports </a:t>
          </a:r>
          <a:r>
            <a:rPr lang="en-US" sz="2000" kern="1200" dirty="0" smtClean="0">
              <a:latin typeface="Century Gothic" panose="020B0502020202020204" pitchFamily="34" charset="0"/>
            </a:rPr>
            <a:t>games were the best performing games, driving more revenue generation.</a:t>
          </a:r>
          <a:endParaRPr lang="en-US" sz="2000" kern="1200" dirty="0">
            <a:latin typeface="Century Gothic" panose="020B0502020202020204" pitchFamily="34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000" kern="1200" dirty="0" smtClean="0">
              <a:latin typeface="Century Gothic" panose="020B0502020202020204" pitchFamily="34" charset="0"/>
            </a:rPr>
            <a:t>In general, sales improved drastically between 2008 and 2010 and dropped afterwards.</a:t>
          </a:r>
          <a:endParaRPr lang="en-US" sz="2000" kern="1200" dirty="0">
            <a:latin typeface="Century Gothic" panose="020B0502020202020204" pitchFamily="34" charset="0"/>
          </a:endParaRPr>
        </a:p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000" kern="1200" dirty="0" smtClean="0">
              <a:latin typeface="Century Gothic" panose="020B0502020202020204" pitchFamily="34" charset="0"/>
            </a:rPr>
            <a:t>For game publishers, the number of games published is not a function of sales.</a:t>
          </a:r>
          <a:endParaRPr lang="en-US" sz="2000" kern="1200" dirty="0">
            <a:latin typeface="Century Gothic" panose="020B0502020202020204" pitchFamily="34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000" kern="1200" dirty="0" smtClean="0">
              <a:latin typeface="Century Gothic" panose="020B0502020202020204" pitchFamily="34" charset="0"/>
            </a:rPr>
            <a:t>People are not interested in “strategy” and “puzzle” genres of game.</a:t>
          </a:r>
          <a:endParaRPr lang="en-US" sz="2000" kern="1200" dirty="0">
            <a:latin typeface="Century Gothic" panose="020B0502020202020204" pitchFamily="34" charset="0"/>
          </a:endParaRPr>
        </a:p>
      </dsp:txBody>
      <dsp:txXfrm>
        <a:off x="0" y="665256"/>
        <a:ext cx="11339050" cy="16684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EA3C3-28B8-4F5E-992E-B9212508F9E9}" type="datetimeFigureOut">
              <a:rPr lang="en-US" smtClean="0"/>
              <a:t>3/22/2022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C93CC-5E9F-4193-93F6-A5142EAAA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944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EA3C3-28B8-4F5E-992E-B9212508F9E9}" type="datetimeFigureOut">
              <a:rPr lang="en-US" smtClean="0"/>
              <a:t>3/22/2022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C93CC-5E9F-4193-93F6-A5142EAAA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181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EA3C3-28B8-4F5E-992E-B9212508F9E9}" type="datetimeFigureOut">
              <a:rPr lang="en-US" smtClean="0"/>
              <a:t>3/22/2022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C93CC-5E9F-4193-93F6-A5142EAAA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923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EA3C3-28B8-4F5E-992E-B9212508F9E9}" type="datetimeFigureOut">
              <a:rPr lang="en-US" smtClean="0"/>
              <a:t>3/22/2022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C93CC-5E9F-4193-93F6-A5142EAAA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484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EA3C3-28B8-4F5E-992E-B9212508F9E9}" type="datetimeFigureOut">
              <a:rPr lang="en-US" smtClean="0"/>
              <a:t>3/22/2022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C93CC-5E9F-4193-93F6-A5142EAAA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640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EA3C3-28B8-4F5E-992E-B9212508F9E9}" type="datetimeFigureOut">
              <a:rPr lang="en-US" smtClean="0"/>
              <a:t>3/22/2022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C93CC-5E9F-4193-93F6-A5142EAAA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502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EA3C3-28B8-4F5E-992E-B9212508F9E9}" type="datetimeFigureOut">
              <a:rPr lang="en-US" smtClean="0"/>
              <a:t>3/22/2022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C93CC-5E9F-4193-93F6-A5142EAAA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931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EA3C3-28B8-4F5E-992E-B9212508F9E9}" type="datetimeFigureOut">
              <a:rPr lang="en-US" smtClean="0"/>
              <a:t>3/22/2022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C93CC-5E9F-4193-93F6-A5142EAAA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736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EA3C3-28B8-4F5E-992E-B9212508F9E9}" type="datetimeFigureOut">
              <a:rPr lang="en-US" smtClean="0"/>
              <a:t>3/22/2022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C93CC-5E9F-4193-93F6-A5142EAAA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977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EA3C3-28B8-4F5E-992E-B9212508F9E9}" type="datetimeFigureOut">
              <a:rPr lang="en-US" smtClean="0"/>
              <a:t>3/22/2022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C93CC-5E9F-4193-93F6-A5142EAAA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027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EA3C3-28B8-4F5E-992E-B9212508F9E9}" type="datetimeFigureOut">
              <a:rPr lang="en-US" smtClean="0"/>
              <a:t>3/22/2022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C93CC-5E9F-4193-93F6-A5142EAAA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2735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EA3C3-28B8-4F5E-992E-B9212508F9E9}" type="datetimeFigureOut">
              <a:rPr lang="en-US" smtClean="0"/>
              <a:t>3/22/2022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C93CC-5E9F-4193-93F6-A5142EAAA539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339319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EA3C3-28B8-4F5E-992E-B9212508F9E9}" type="datetimeFigureOut">
              <a:rPr lang="en-US" smtClean="0"/>
              <a:t>3/22/2022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C93CC-5E9F-4193-93F6-A5142EAAA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7928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EA3C3-28B8-4F5E-992E-B9212508F9E9}" type="datetimeFigureOut">
              <a:rPr lang="en-US" smtClean="0"/>
              <a:t>3/22/2022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C93CC-5E9F-4193-93F6-A5142EAAA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4115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EA3C3-28B8-4F5E-992E-B9212508F9E9}" type="datetimeFigureOut">
              <a:rPr lang="en-US" smtClean="0"/>
              <a:t>3/22/2022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C93CC-5E9F-4193-93F6-A5142EAAA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085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EA3C3-28B8-4F5E-992E-B9212508F9E9}" type="datetimeFigureOut">
              <a:rPr lang="en-US" smtClean="0"/>
              <a:t>3/22/2022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C93CC-5E9F-4193-93F6-A5142EAAA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3682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EA3C3-28B8-4F5E-992E-B9212508F9E9}" type="datetimeFigureOut">
              <a:rPr lang="en-US" smtClean="0"/>
              <a:t>3/22/2022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C93CC-5E9F-4193-93F6-A5142EAAA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035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9B9EA3C3-28B8-4F5E-992E-B9212508F9E9}" type="datetimeFigureOut">
              <a:rPr lang="en-US" smtClean="0"/>
              <a:t>3/22/2022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2C1C93CC-5E9F-4193-93F6-A5142EAAA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835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14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piece of paper with a pencil laying on top">
            <a:extLst>
              <a:ext uri="{FF2B5EF4-FFF2-40B4-BE49-F238E27FC236}">
                <a16:creationId xmlns:a16="http://schemas.microsoft.com/office/drawing/2014/main" id="{65810330-F0B5-43C9-BC34-094FFB5C052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latin typeface="Century Gothic" panose="020B0502020202020204" pitchFamily="34" charset="0"/>
              </a:rPr>
              <a:t>VIDEO GAME SALES PROJECT ANALYSIS</a:t>
            </a:r>
            <a:endParaRPr lang="en-US" b="1" dirty="0">
              <a:latin typeface="Century Gothic" panose="020B0502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4" y="4777380"/>
            <a:ext cx="10133532" cy="861420"/>
          </a:xfrm>
        </p:spPr>
        <p:txBody>
          <a:bodyPr>
            <a:normAutofit/>
          </a:bodyPr>
          <a:lstStyle/>
          <a:p>
            <a:r>
              <a:rPr lang="en-US" b="1" dirty="0" smtClean="0">
                <a:latin typeface="Century Gothic" panose="020B0502020202020204" pitchFamily="34" charset="0"/>
              </a:rPr>
              <a:t>ADEGBITE OLARONKE TEMITOPE                                        ENTRY LEVEL, 2022</a:t>
            </a:r>
            <a:endParaRPr lang="en-US" b="1" dirty="0">
              <a:latin typeface="Century Gothic" panose="020B0502020202020204" pitchFamily="34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1284514" y="4789716"/>
            <a:ext cx="968828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4051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AD72B67-6FB0-40BD-BAF1-6634DA978141}"/>
              </a:ext>
            </a:extLst>
          </p:cNvPr>
          <p:cNvSpPr txBox="1"/>
          <p:nvPr/>
        </p:nvSpPr>
        <p:spPr>
          <a:xfrm>
            <a:off x="0" y="655056"/>
            <a:ext cx="4963886" cy="6202944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spc="-5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Introduction</a:t>
            </a:r>
          </a:p>
        </p:txBody>
      </p:sp>
      <p:sp>
        <p:nvSpPr>
          <p:cNvPr id="54" name="TextBox 3">
            <a:extLst>
              <a:ext uri="{FF2B5EF4-FFF2-40B4-BE49-F238E27FC236}">
                <a16:creationId xmlns:a16="http://schemas.microsoft.com/office/drawing/2014/main" id="{6F405266-C2F8-4366-96EF-C60E56198913}"/>
              </a:ext>
            </a:extLst>
          </p:cNvPr>
          <p:cNvSpPr txBox="1"/>
          <p:nvPr/>
        </p:nvSpPr>
        <p:spPr>
          <a:xfrm>
            <a:off x="5231958" y="655056"/>
            <a:ext cx="5923721" cy="6202944"/>
          </a:xfrm>
          <a:prstGeom prst="rect">
            <a:avLst/>
          </a:prstGeom>
        </p:spPr>
        <p:txBody>
          <a:bodyPr vert="horz" lIns="0" tIns="45720" rIns="0" bIns="45720" rtlCol="0" anchor="ctr">
            <a:normAutofit fontScale="70000" lnSpcReduction="20000"/>
          </a:bodyPr>
          <a:lstStyle/>
          <a:p>
            <a:pPr algn="just">
              <a:lnSpc>
                <a:spcPct val="90000"/>
              </a:lnSpc>
              <a:spcAft>
                <a:spcPts val="600"/>
              </a:spcAft>
              <a:buFont typeface="Calibri" panose="020F0502020204030204" pitchFamily="34" charset="0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Report on the analysis of </a:t>
            </a: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Video Game 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Sales Performance Data from </a:t>
            </a: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1980-2020. 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Century Gothic" panose="020B0502020202020204" pitchFamily="34" charset="0"/>
            </a:endParaRPr>
          </a:p>
          <a:p>
            <a:pPr algn="just">
              <a:lnSpc>
                <a:spcPct val="90000"/>
              </a:lnSpc>
              <a:spcAft>
                <a:spcPts val="600"/>
              </a:spcAft>
              <a:buFont typeface="Calibri" panose="020F0502020204030204" pitchFamily="34" charset="0"/>
            </a:pP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Century Gothic" panose="020B0502020202020204" pitchFamily="34" charset="0"/>
            </a:endParaRPr>
          </a:p>
          <a:p>
            <a:pPr algn="just">
              <a:lnSpc>
                <a:spcPct val="90000"/>
              </a:lnSpc>
              <a:spcAft>
                <a:spcPts val="600"/>
              </a:spcAft>
              <a:buFont typeface="Calibri" panose="020F0502020204030204" pitchFamily="34" charset="0"/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Aim: </a:t>
            </a:r>
            <a:r>
              <a:rPr 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Analysing  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sales report to </a:t>
            </a:r>
            <a:r>
              <a:rPr 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understand the performance of several video games and also, to identify 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opportunities for improving revenues</a:t>
            </a:r>
          </a:p>
          <a:p>
            <a:pPr algn="just">
              <a:lnSpc>
                <a:spcPct val="90000"/>
              </a:lnSpc>
              <a:spcAft>
                <a:spcPts val="600"/>
              </a:spcAft>
              <a:buFont typeface="Calibri" panose="020F0502020204030204" pitchFamily="34" charset="0"/>
            </a:pP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Century Gothic" panose="020B0502020202020204" pitchFamily="34" charset="0"/>
            </a:endParaRPr>
          </a:p>
          <a:p>
            <a:pPr algn="just">
              <a:lnSpc>
                <a:spcPct val="90000"/>
              </a:lnSpc>
              <a:spcAft>
                <a:spcPts val="600"/>
              </a:spcAft>
              <a:buFont typeface="Calibri" panose="020F0502020204030204" pitchFamily="34" charset="0"/>
            </a:pP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Several video games were utilized and their performances were analyzed based on the following;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Century Gothic" panose="020B0502020202020204" pitchFamily="34" charset="0"/>
            </a:endParaRPr>
          </a:p>
          <a:p>
            <a:pPr marL="457200" indent="-457200" algn="just">
              <a:lnSpc>
                <a:spcPct val="9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Revenue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Century Gothic" panose="020B0502020202020204" pitchFamily="34" charset="0"/>
            </a:endParaRPr>
          </a:p>
          <a:p>
            <a:pPr marL="457200" indent="-457200" algn="just">
              <a:lnSpc>
                <a:spcPct val="9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Genre (genre of the game)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Century Gothic" panose="020B0502020202020204" pitchFamily="34" charset="0"/>
            </a:endParaRPr>
          </a:p>
          <a:p>
            <a:pPr marL="457200" indent="-457200" algn="just">
              <a:lnSpc>
                <a:spcPct val="9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Platform (platform of the game release)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Century Gothic" panose="020B0502020202020204" pitchFamily="34" charset="0"/>
            </a:endParaRPr>
          </a:p>
          <a:p>
            <a:pPr marL="457200" indent="-457200" algn="just">
              <a:lnSpc>
                <a:spcPct val="9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Publisher (publisher of the game)</a:t>
            </a:r>
          </a:p>
          <a:p>
            <a:pPr marL="457200" indent="-457200" algn="just">
              <a:lnSpc>
                <a:spcPct val="9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Year (year of the game’s release)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Century Gothic" panose="020B0502020202020204" pitchFamily="34" charset="0"/>
            </a:endParaRPr>
          </a:p>
          <a:p>
            <a:pPr marL="457200" indent="-457200" algn="just">
              <a:lnSpc>
                <a:spcPct val="90000"/>
              </a:lnSpc>
              <a:spcAft>
                <a:spcPts val="600"/>
              </a:spcAft>
              <a:buFont typeface="+mj-lt"/>
              <a:buAutoNum type="arabicPeriod"/>
            </a:pP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Century Gothic" panose="020B0502020202020204" pitchFamily="34" charset="0"/>
            </a:endParaRPr>
          </a:p>
          <a:p>
            <a:pPr algn="just">
              <a:lnSpc>
                <a:spcPct val="90000"/>
              </a:lnSpc>
              <a:spcAft>
                <a:spcPts val="600"/>
              </a:spcAft>
              <a:buFont typeface="Calibri" panose="020F0502020204030204" pitchFamily="34" charset="0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The report takes the following approach;</a:t>
            </a:r>
          </a:p>
          <a:p>
            <a:pPr algn="just">
              <a:lnSpc>
                <a:spcPct val="90000"/>
              </a:lnSpc>
              <a:spcAft>
                <a:spcPts val="600"/>
              </a:spcAft>
              <a:buFont typeface="Calibri" panose="020F0502020204030204" pitchFamily="34" charset="0"/>
            </a:pP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Century Gothic" panose="020B0502020202020204" pitchFamily="34" charset="0"/>
            </a:endParaRPr>
          </a:p>
          <a:p>
            <a:pPr marL="285750" indent="-285750" algn="just">
              <a:lnSpc>
                <a:spcPct val="90000"/>
              </a:lnSpc>
              <a:spcAft>
                <a:spcPts val="600"/>
              </a:spcAft>
              <a:buFont typeface="Calibri" panose="020F050202020403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Data Cleaning with Excel and Tableau</a:t>
            </a:r>
          </a:p>
          <a:p>
            <a:pPr marL="285750" indent="-285750" algn="just">
              <a:lnSpc>
                <a:spcPct val="90000"/>
              </a:lnSpc>
              <a:spcAft>
                <a:spcPts val="600"/>
              </a:spcAft>
              <a:buFont typeface="Calibri" panose="020F050202020403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Data Analysis for Insights</a:t>
            </a:r>
          </a:p>
          <a:p>
            <a:pPr marL="285750" indent="-285750" algn="just">
              <a:lnSpc>
                <a:spcPct val="90000"/>
              </a:lnSpc>
              <a:spcAft>
                <a:spcPts val="600"/>
              </a:spcAft>
              <a:buFont typeface="Calibri" panose="020F050202020403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Data Visualization with </a:t>
            </a: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Tableau</a:t>
            </a:r>
          </a:p>
          <a:p>
            <a:pPr algn="just">
              <a:lnSpc>
                <a:spcPct val="90000"/>
              </a:lnSpc>
              <a:spcAft>
                <a:spcPts val="600"/>
              </a:spcAft>
            </a:pPr>
            <a:endParaRPr lang="en-US" sz="2400" dirty="0" smtClean="0">
              <a:solidFill>
                <a:schemeClr val="tx1">
                  <a:lumMod val="75000"/>
                  <a:lumOff val="25000"/>
                </a:schemeClr>
              </a:solidFill>
              <a:latin typeface="Century Gothic" panose="020B0502020202020204" pitchFamily="34" charset="0"/>
            </a:endParaRPr>
          </a:p>
          <a:p>
            <a:pPr algn="just">
              <a:lnSpc>
                <a:spcPct val="90000"/>
              </a:lnSpc>
              <a:spcAft>
                <a:spcPts val="600"/>
              </a:spcAft>
            </a:pPr>
            <a:endParaRPr lang="en-US" sz="2400" dirty="0" smtClean="0">
              <a:solidFill>
                <a:schemeClr val="tx1">
                  <a:lumMod val="75000"/>
                  <a:lumOff val="25000"/>
                </a:schemeClr>
              </a:solidFill>
              <a:latin typeface="Century Gothic" panose="020B0502020202020204" pitchFamily="34" charset="0"/>
            </a:endParaRPr>
          </a:p>
          <a:p>
            <a:pPr algn="just">
              <a:lnSpc>
                <a:spcPct val="90000"/>
              </a:lnSpc>
              <a:spcAft>
                <a:spcPts val="600"/>
              </a:spcAft>
              <a:buFont typeface="Calibri" panose="020F0502020204030204" pitchFamily="34" charset="0"/>
            </a:pP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The key findings will be discussed in subsequent slides.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3936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AD72B67-6FB0-40BD-BAF1-6634DA978141}"/>
              </a:ext>
            </a:extLst>
          </p:cNvPr>
          <p:cNvSpPr txBox="1"/>
          <p:nvPr/>
        </p:nvSpPr>
        <p:spPr>
          <a:xfrm>
            <a:off x="0" y="655056"/>
            <a:ext cx="4963886" cy="6202944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spc="-50" dirty="0" smtClean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Data Design</a:t>
            </a:r>
            <a:endParaRPr lang="en-US" sz="4000" spc="-5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4" name="TextBox 3">
            <a:extLst>
              <a:ext uri="{FF2B5EF4-FFF2-40B4-BE49-F238E27FC236}">
                <a16:creationId xmlns:a16="http://schemas.microsoft.com/office/drawing/2014/main" id="{6F405266-C2F8-4366-96EF-C60E56198913}"/>
              </a:ext>
            </a:extLst>
          </p:cNvPr>
          <p:cNvSpPr txBox="1"/>
          <p:nvPr/>
        </p:nvSpPr>
        <p:spPr>
          <a:xfrm>
            <a:off x="5231958" y="655056"/>
            <a:ext cx="5923721" cy="6202944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/>
          <a:p>
            <a:pPr algn="just">
              <a:lnSpc>
                <a:spcPct val="90000"/>
              </a:lnSpc>
              <a:spcAft>
                <a:spcPts val="600"/>
              </a:spcAft>
              <a:buFont typeface="Calibri" panose="020F0502020204030204" pitchFamily="34" charset="0"/>
            </a:pP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5625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89239"/>
            <a:ext cx="7639050" cy="3658961"/>
          </a:xfrm>
          <a:prstGeom prst="rect">
            <a:avLst/>
          </a:prstGeom>
        </p:spPr>
      </p:pic>
      <p:sp>
        <p:nvSpPr>
          <p:cNvPr id="2" name="Snip Diagonal Corner Rectangle 1"/>
          <p:cNvSpPr/>
          <p:nvPr/>
        </p:nvSpPr>
        <p:spPr>
          <a:xfrm>
            <a:off x="6074228" y="2264228"/>
            <a:ext cx="6117772" cy="4702629"/>
          </a:xfrm>
          <a:prstGeom prst="snip2Diag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/>
          <p:cNvSpPr txBox="1">
            <a:spLocks/>
          </p:cNvSpPr>
          <p:nvPr/>
        </p:nvSpPr>
        <p:spPr bwMode="gray">
          <a:xfrm>
            <a:off x="6204857" y="2966356"/>
            <a:ext cx="5682342" cy="37936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000" b="1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ANALYSIS SUMMARY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North American recorded the highest sales with a 49.27% contribution.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The highest sales occurred between 2008 to 2010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More games were released between 2008 and 2010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The top performing game was Wii Sports having its highest sales in North America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Top publisher and platform are “Nintendo” and “PS2 respectively.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000" dirty="0" smtClean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000" b="1" dirty="0" smtClean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endParaRPr lang="en-US" sz="2000" b="1" dirty="0" smtClean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marL="571500" indent="-571500">
              <a:buFont typeface="Wingdings" panose="05000000000000000000" pitchFamily="2" charset="2"/>
              <a:buChar char="q"/>
            </a:pPr>
            <a:endParaRPr lang="en-US" sz="2000" b="1" dirty="0" smtClean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endParaRPr lang="en-US" sz="20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661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ight Triangle 2"/>
          <p:cNvSpPr/>
          <p:nvPr/>
        </p:nvSpPr>
        <p:spPr>
          <a:xfrm>
            <a:off x="5388429" y="0"/>
            <a:ext cx="8011885" cy="6858000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/>
          <p:cNvSpPr txBox="1">
            <a:spLocks/>
          </p:cNvSpPr>
          <p:nvPr/>
        </p:nvSpPr>
        <p:spPr bwMode="gray">
          <a:xfrm>
            <a:off x="0" y="0"/>
            <a:ext cx="5649686" cy="5116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 smtClean="0">
                <a:solidFill>
                  <a:schemeClr val="tx1"/>
                </a:solidFill>
              </a:rPr>
              <a:t>GLOBAL SALES ANALYSIS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3" name="Title 1"/>
          <p:cNvSpPr txBox="1">
            <a:spLocks/>
          </p:cNvSpPr>
          <p:nvPr/>
        </p:nvSpPr>
        <p:spPr bwMode="gray">
          <a:xfrm>
            <a:off x="8055428" y="1785951"/>
            <a:ext cx="2737757" cy="5116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1800" b="1" dirty="0" smtClean="0">
                <a:solidFill>
                  <a:schemeClr val="bg1"/>
                </a:solidFill>
              </a:rPr>
              <a:t>KEY OBSERVATIONS</a:t>
            </a:r>
            <a:endParaRPr lang="en-US" sz="1800" b="1" dirty="0">
              <a:solidFill>
                <a:schemeClr val="bg1"/>
              </a:solidFill>
            </a:endParaRP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7723284" y="2311340"/>
            <a:ext cx="4267202" cy="1934325"/>
          </a:xfrm>
          <a:prstGeom prst="rect">
            <a:avLst/>
          </a:prstGeom>
          <a:solidFill>
            <a:schemeClr val="tx1"/>
          </a:solidFill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600"/>
              </a:spcAft>
              <a:buNone/>
            </a:pPr>
            <a:endParaRPr lang="en-US" sz="1600" dirty="0">
              <a:solidFill>
                <a:schemeClr val="bg1"/>
              </a:solidFill>
              <a:latin typeface="Bookman Old Style" panose="02050604050505020204" pitchFamily="18" charset="0"/>
            </a:endParaRPr>
          </a:p>
          <a:p>
            <a:pPr algn="just">
              <a:spcAft>
                <a:spcPts val="600"/>
              </a:spcAft>
            </a:pPr>
            <a:r>
              <a:rPr lang="en-US" sz="1600" dirty="0" smtClean="0">
                <a:solidFill>
                  <a:schemeClr val="bg1"/>
                </a:solidFill>
                <a:latin typeface="Bookman Old Style" panose="02050604050505020204" pitchFamily="18" charset="0"/>
              </a:rPr>
              <a:t>Highest  sales were recorded between 2008 to 2010</a:t>
            </a:r>
          </a:p>
          <a:p>
            <a:pPr algn="just">
              <a:spcAft>
                <a:spcPts val="600"/>
              </a:spcAft>
            </a:pPr>
            <a:r>
              <a:rPr lang="en-US" sz="1600" dirty="0" smtClean="0">
                <a:solidFill>
                  <a:schemeClr val="bg1"/>
                </a:solidFill>
                <a:latin typeface="Bookman Old Style" panose="02050604050505020204" pitchFamily="18" charset="0"/>
              </a:rPr>
              <a:t>After which sales began to drop through 2010. Why?</a:t>
            </a:r>
            <a:endParaRPr lang="en-US" sz="16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23332"/>
            <a:ext cx="7723284" cy="337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581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ight Triangle 2"/>
          <p:cNvSpPr/>
          <p:nvPr/>
        </p:nvSpPr>
        <p:spPr>
          <a:xfrm>
            <a:off x="5388429" y="0"/>
            <a:ext cx="8011885" cy="6858000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/>
          <p:cNvSpPr txBox="1">
            <a:spLocks/>
          </p:cNvSpPr>
          <p:nvPr/>
        </p:nvSpPr>
        <p:spPr bwMode="gray">
          <a:xfrm>
            <a:off x="0" y="0"/>
            <a:ext cx="5649686" cy="5116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 smtClean="0">
                <a:solidFill>
                  <a:schemeClr val="tx1"/>
                </a:solidFill>
              </a:rPr>
              <a:t>GLOBAL SALES ANALYSIS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3" name="Title 1"/>
          <p:cNvSpPr txBox="1">
            <a:spLocks/>
          </p:cNvSpPr>
          <p:nvPr/>
        </p:nvSpPr>
        <p:spPr bwMode="gray">
          <a:xfrm>
            <a:off x="8055428" y="1785951"/>
            <a:ext cx="2737757" cy="5116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1800" b="1" dirty="0" smtClean="0">
                <a:solidFill>
                  <a:schemeClr val="bg1"/>
                </a:solidFill>
              </a:rPr>
              <a:t>KEY OBSERVATIONS</a:t>
            </a:r>
            <a:endParaRPr lang="en-US" sz="1800" b="1" dirty="0">
              <a:solidFill>
                <a:schemeClr val="bg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892630"/>
            <a:ext cx="8926286" cy="4912858"/>
          </a:xfrm>
          <a:prstGeom prst="rect">
            <a:avLst/>
          </a:prstGeom>
        </p:spPr>
      </p:pic>
      <p:sp>
        <p:nvSpPr>
          <p:cNvPr id="14" name="Content Placeholder 2"/>
          <p:cNvSpPr txBox="1">
            <a:spLocks/>
          </p:cNvSpPr>
          <p:nvPr/>
        </p:nvSpPr>
        <p:spPr>
          <a:xfrm>
            <a:off x="8926286" y="2643464"/>
            <a:ext cx="3265713" cy="3162024"/>
          </a:xfrm>
          <a:prstGeom prst="rect">
            <a:avLst/>
          </a:prstGeom>
          <a:solidFill>
            <a:schemeClr val="tx1"/>
          </a:solidFill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600"/>
              </a:spcAft>
              <a:buNone/>
            </a:pPr>
            <a:endParaRPr lang="en-US" sz="1600" dirty="0">
              <a:solidFill>
                <a:schemeClr val="bg1"/>
              </a:solidFill>
              <a:latin typeface="Bookman Old Style" panose="02050604050505020204" pitchFamily="18" charset="0"/>
            </a:endParaRPr>
          </a:p>
          <a:p>
            <a:pPr algn="just">
              <a:spcAft>
                <a:spcPts val="600"/>
              </a:spcAft>
            </a:pPr>
            <a:r>
              <a:rPr lang="en-US" sz="1600" dirty="0" smtClean="0">
                <a:solidFill>
                  <a:schemeClr val="bg1"/>
                </a:solidFill>
                <a:latin typeface="Bookman Old Style" panose="02050604050505020204" pitchFamily="18" charset="0"/>
              </a:rPr>
              <a:t>It was observed that more games were released between 2008 to 2010 after which it began to drop</a:t>
            </a:r>
          </a:p>
          <a:p>
            <a:pPr algn="just">
              <a:spcAft>
                <a:spcPts val="600"/>
              </a:spcAft>
            </a:pPr>
            <a:r>
              <a:rPr lang="en-US" sz="1600" dirty="0" smtClean="0">
                <a:solidFill>
                  <a:schemeClr val="bg1"/>
                </a:solidFill>
                <a:latin typeface="Bookman Old Style" panose="02050604050505020204" pitchFamily="18" charset="0"/>
              </a:rPr>
              <a:t>The increase in number of games released between 2008 to 2010 was responsible for high sales experienced in those periods 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983387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6943" y="283028"/>
            <a:ext cx="7805057" cy="657497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4299857" cy="6858000"/>
          </a:xfrm>
          <a:prstGeom prst="rect">
            <a:avLst/>
          </a:prstGeom>
          <a:solidFill>
            <a:srgbClr val="63174F"/>
          </a:solidFill>
          <a:ln>
            <a:solidFill>
              <a:srgbClr val="6317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7F71DB-B183-46BC-9DDB-0922525FE34B}"/>
              </a:ext>
            </a:extLst>
          </p:cNvPr>
          <p:cNvSpPr txBox="1"/>
          <p:nvPr/>
        </p:nvSpPr>
        <p:spPr>
          <a:xfrm>
            <a:off x="0" y="177281"/>
            <a:ext cx="429985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600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GAMES </a:t>
            </a:r>
            <a:r>
              <a:rPr lang="en-US" sz="3600" dirty="0">
                <a:solidFill>
                  <a:schemeClr val="bg1"/>
                </a:solidFill>
                <a:latin typeface="Century Gothic" panose="020B0502020202020204" pitchFamily="34" charset="0"/>
              </a:rPr>
              <a:t>Breakdown Analysis</a:t>
            </a:r>
            <a:endParaRPr lang="en-NG" sz="36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87086" y="1872342"/>
            <a:ext cx="2405743" cy="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6444725-EA09-47CF-A6F4-3F9EFEB0ED5A}"/>
              </a:ext>
            </a:extLst>
          </p:cNvPr>
          <p:cNvSpPr txBox="1"/>
          <p:nvPr/>
        </p:nvSpPr>
        <p:spPr>
          <a:xfrm>
            <a:off x="0" y="2108888"/>
            <a:ext cx="4082143" cy="344383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algn="just">
              <a:spcAft>
                <a:spcPts val="600"/>
              </a:spcAft>
              <a:buFont typeface="Calibri" panose="020F0502020204030204" pitchFamily="34" charset="0"/>
            </a:pPr>
            <a:endParaRPr lang="en-US" dirty="0">
              <a:solidFill>
                <a:srgbClr val="FFFFFF"/>
              </a:solidFill>
              <a:latin typeface="Century Gothic" panose="020B0502020202020204" pitchFamily="34" charset="0"/>
            </a:endParaRPr>
          </a:p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dirty="0" smtClean="0">
                <a:solidFill>
                  <a:srgbClr val="FFFFFF"/>
                </a:solidFill>
                <a:latin typeface="Century Gothic" panose="020B0502020202020204" pitchFamily="34" charset="0"/>
              </a:rPr>
              <a:t>The highest performing game was “Wii Sports” having its highest sales record in North America. This explains why North America was the highest sold location.</a:t>
            </a:r>
          </a:p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dirty="0">
              <a:solidFill>
                <a:srgbClr val="FFFFFF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0119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>
            <a:off x="0" y="0"/>
            <a:ext cx="9710057" cy="6858000"/>
          </a:xfrm>
          <a:prstGeom prst="rtTriangl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Triangle 6"/>
          <p:cNvSpPr/>
          <p:nvPr/>
        </p:nvSpPr>
        <p:spPr>
          <a:xfrm>
            <a:off x="3744687" y="1"/>
            <a:ext cx="8447314" cy="685799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11117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 smtClean="0">
                <a:solidFill>
                  <a:schemeClr val="tx1"/>
                </a:solidFill>
                <a:latin typeface="Century Gothic" panose="020B0502020202020204" pitchFamily="34" charset="0"/>
              </a:rPr>
              <a:t>GENRE ANALYSIS</a:t>
            </a:r>
            <a:endParaRPr lang="en-US" sz="3200" b="1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643" y="1122202"/>
            <a:ext cx="5035814" cy="366721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22201"/>
            <a:ext cx="1177423" cy="1724629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3803" y="1122202"/>
            <a:ext cx="6798198" cy="3678248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0" y="4800451"/>
            <a:ext cx="12192000" cy="206858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000" b="1" dirty="0" smtClean="0">
              <a:solidFill>
                <a:schemeClr val="tx1"/>
              </a:solidFill>
              <a:latin typeface="Century Gothic" panose="020B0502020202020204" pitchFamily="34" charset="0"/>
            </a:endParaRPr>
          </a:p>
          <a:p>
            <a:endParaRPr lang="en-US" sz="2000" b="1" dirty="0">
              <a:solidFill>
                <a:schemeClr val="tx1"/>
              </a:solidFill>
              <a:latin typeface="Century Gothic" panose="020B0502020202020204" pitchFamily="34" charset="0"/>
            </a:endParaRPr>
          </a:p>
          <a:p>
            <a:r>
              <a:rPr lang="en-US" sz="2000" b="1" dirty="0" smtClean="0">
                <a:solidFill>
                  <a:schemeClr val="tx1"/>
                </a:solidFill>
                <a:latin typeface="Century Gothic" panose="020B0502020202020204" pitchFamily="34" charset="0"/>
              </a:rPr>
              <a:t>KEY OBSERVATIONS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 smtClean="0">
                <a:solidFill>
                  <a:schemeClr val="tx1"/>
                </a:solidFill>
                <a:latin typeface="Century Gothic" panose="020B0502020202020204" pitchFamily="34" charset="0"/>
              </a:rPr>
              <a:t>The top three Genres were “Action”, ”Sports”, and “Shooter” with a contribution of 19.63%, 14.92% and 11.63% respectively. This shows that the genre of most games for the period under review was “Action”.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 smtClean="0">
                <a:solidFill>
                  <a:schemeClr val="tx1"/>
                </a:solidFill>
                <a:latin typeface="Century Gothic" panose="020B0502020202020204" pitchFamily="34" charset="0"/>
              </a:rPr>
              <a:t>Looking at the top 10 performing games, we can see that the genre of the top performing game (Wii Sports) was  “Sports”.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000" dirty="0" smtClean="0">
              <a:solidFill>
                <a:schemeClr val="tx1"/>
              </a:solidFill>
              <a:latin typeface="Century Gothic" panose="020B0502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000" b="1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1866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Diagonal Corner Rectangle 8"/>
          <p:cNvSpPr/>
          <p:nvPr/>
        </p:nvSpPr>
        <p:spPr>
          <a:xfrm>
            <a:off x="0" y="1562582"/>
            <a:ext cx="4676172" cy="5295418"/>
          </a:xfrm>
          <a:prstGeom prst="snip2DiagRect">
            <a:avLst/>
          </a:prstGeom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nip Diagonal Corner Rectangle 2"/>
          <p:cNvSpPr/>
          <p:nvPr/>
        </p:nvSpPr>
        <p:spPr>
          <a:xfrm>
            <a:off x="0" y="0"/>
            <a:ext cx="4201610" cy="1562582"/>
          </a:xfrm>
          <a:prstGeom prst="snip2DiagRect">
            <a:avLst/>
          </a:prstGeom>
          <a:solidFill>
            <a:schemeClr val="accent6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smtClean="0">
                <a:latin typeface="Century Gothic" panose="020B0502020202020204" pitchFamily="34" charset="0"/>
              </a:rPr>
              <a:t>PLATFORM PERFORMANCE ANALYSIS</a:t>
            </a:r>
            <a:endParaRPr lang="en-US" sz="2400" b="1" dirty="0">
              <a:latin typeface="Century Gothic" panose="020B0502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2402" y="1944551"/>
            <a:ext cx="8309598" cy="44196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4890" y="138900"/>
            <a:ext cx="1493255" cy="178250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6444725-EA09-47CF-A6F4-3F9EFEB0ED5A}"/>
              </a:ext>
            </a:extLst>
          </p:cNvPr>
          <p:cNvSpPr txBox="1"/>
          <p:nvPr/>
        </p:nvSpPr>
        <p:spPr>
          <a:xfrm>
            <a:off x="0" y="2108888"/>
            <a:ext cx="3750197" cy="344383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algn="just">
              <a:spcAft>
                <a:spcPts val="600"/>
              </a:spcAft>
              <a:buFont typeface="Calibri" panose="020F0502020204030204" pitchFamily="34" charset="0"/>
            </a:pPr>
            <a:endParaRPr lang="en-US" dirty="0">
              <a:solidFill>
                <a:srgbClr val="FFFFFF"/>
              </a:solidFill>
              <a:latin typeface="Century Gothic" panose="020B0502020202020204" pitchFamily="34" charset="0"/>
            </a:endParaRPr>
          </a:p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dirty="0" smtClean="0">
                <a:solidFill>
                  <a:srgbClr val="FFFFFF"/>
                </a:solidFill>
                <a:latin typeface="Century Gothic" panose="020B0502020202020204" pitchFamily="34" charset="0"/>
              </a:rPr>
              <a:t>There were various platforms employed in the release of  games.</a:t>
            </a:r>
          </a:p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dirty="0" smtClean="0">
                <a:solidFill>
                  <a:srgbClr val="FFFFFF"/>
                </a:solidFill>
                <a:latin typeface="Century Gothic" panose="020B0502020202020204" pitchFamily="34" charset="0"/>
              </a:rPr>
              <a:t>“PS2” was the highest performing platform followed by “X360” and “PS3” </a:t>
            </a:r>
          </a:p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dirty="0">
              <a:solidFill>
                <a:srgbClr val="FFFFFF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8660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extBox 6">
            <a:extLst>
              <a:ext uri="{FF2B5EF4-FFF2-40B4-BE49-F238E27FC236}">
                <a16:creationId xmlns:a16="http://schemas.microsoft.com/office/drawing/2014/main" id="{838F4442-9016-334B-294F-0A6E35F4A5C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52234138"/>
              </p:ext>
            </p:extLst>
          </p:nvPr>
        </p:nvGraphicFramePr>
        <p:xfrm>
          <a:off x="6397640" y="2982684"/>
          <a:ext cx="5652846" cy="20791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Rounded Rectangle 2"/>
          <p:cNvSpPr/>
          <p:nvPr/>
        </p:nvSpPr>
        <p:spPr>
          <a:xfrm>
            <a:off x="0" y="625033"/>
            <a:ext cx="12192000" cy="5486400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18224" y="186822"/>
            <a:ext cx="1756460" cy="208597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0" y="5373459"/>
            <a:ext cx="12192000" cy="1484541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In terms of publishers performance, “Nintendo” recorded the highest sales with a total sale of 1,724 followed by “Electronic Arts” and “Activision”.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However, in looking at the count of games circulated by each publisher, for the period under review, we can see that count of games released by each publisher is not a function of sales. We might as well say the users already have preference for the game publishers they patronize.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97" y="625033"/>
            <a:ext cx="9848850" cy="47484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101813"/>
            <a:ext cx="4340506" cy="52322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2800" b="1" dirty="0" smtClean="0">
                <a:latin typeface="Century Gothic" panose="020B0502020202020204" pitchFamily="34" charset="0"/>
              </a:rPr>
              <a:t>PUBLISHER </a:t>
            </a:r>
            <a:r>
              <a:rPr lang="en-US" sz="2800" b="1" dirty="0">
                <a:latin typeface="Century Gothic" panose="020B0502020202020204" pitchFamily="34" charset="0"/>
              </a:rPr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945627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289367" y="96646"/>
            <a:ext cx="11339051" cy="6487529"/>
            <a:chOff x="471950" y="547094"/>
            <a:chExt cx="11339051" cy="6487529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11FD472-1F2D-411D-9E71-4694142EB6C4}"/>
                </a:ext>
              </a:extLst>
            </p:cNvPr>
            <p:cNvSpPr txBox="1"/>
            <p:nvPr/>
          </p:nvSpPr>
          <p:spPr>
            <a:xfrm>
              <a:off x="1317522" y="547094"/>
              <a:ext cx="987158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u="sng" dirty="0">
                  <a:latin typeface="+mj-lt"/>
                </a:rPr>
                <a:t>Conclusions And Recommendations</a:t>
              </a:r>
              <a:endParaRPr lang="en-NG" sz="4000" u="sng" dirty="0">
                <a:latin typeface="+mj-lt"/>
              </a:endParaRP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5882072-04AD-40A7-8243-CBF49CAB02BF}"/>
                </a:ext>
              </a:extLst>
            </p:cNvPr>
            <p:cNvCxnSpPr/>
            <p:nvPr/>
          </p:nvCxnSpPr>
          <p:spPr>
            <a:xfrm flipH="1">
              <a:off x="471951" y="4005942"/>
              <a:ext cx="11219306" cy="27261"/>
            </a:xfrm>
            <a:prstGeom prst="line">
              <a:avLst/>
            </a:prstGeom>
            <a:ln w="28575" cap="rnd" cmpd="sng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aphicFrame>
          <p:nvGraphicFramePr>
            <p:cNvPr id="10" name="TextBox 1">
              <a:extLst>
                <a:ext uri="{FF2B5EF4-FFF2-40B4-BE49-F238E27FC236}">
                  <a16:creationId xmlns:a16="http://schemas.microsoft.com/office/drawing/2014/main" id="{B79ADACE-746D-3983-2975-08C4F79BDADF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094914634"/>
                </p:ext>
              </p:extLst>
            </p:nvPr>
          </p:nvGraphicFramePr>
          <p:xfrm>
            <a:off x="471951" y="4169231"/>
            <a:ext cx="11339050" cy="2865392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graphicFrame>
          <p:nvGraphicFramePr>
            <p:cNvPr id="11" name="TextBox 3">
              <a:extLst>
                <a:ext uri="{FF2B5EF4-FFF2-40B4-BE49-F238E27FC236}">
                  <a16:creationId xmlns:a16="http://schemas.microsoft.com/office/drawing/2014/main" id="{02E59805-7A67-622F-A290-45F080298A6D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036514747"/>
                </p:ext>
              </p:extLst>
            </p:nvPr>
          </p:nvGraphicFramePr>
          <p:xfrm>
            <a:off x="471950" y="1513114"/>
            <a:ext cx="11339050" cy="2405743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7" r:lo="rId8" r:qs="rId9" r:cs="rId10"/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93462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143000"/>
            <a:ext cx="12192000" cy="57150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urved Up Ribbon 1"/>
          <p:cNvSpPr/>
          <p:nvPr/>
        </p:nvSpPr>
        <p:spPr>
          <a:xfrm>
            <a:off x="532435" y="2268638"/>
            <a:ext cx="10903352" cy="3183038"/>
          </a:xfrm>
          <a:prstGeom prst="ellipseRibbon2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810778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4061</TotalTime>
  <Words>611</Words>
  <Application>Microsoft Office PowerPoint</Application>
  <PresentationFormat>Widescreen</PresentationFormat>
  <Paragraphs>71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Bookman Old Style</vt:lpstr>
      <vt:lpstr>Calibri</vt:lpstr>
      <vt:lpstr>Century Gothic</vt:lpstr>
      <vt:lpstr>Tw Cen MT</vt:lpstr>
      <vt:lpstr>Wingdings</vt:lpstr>
      <vt:lpstr>Wingdings 3</vt:lpstr>
      <vt:lpstr>Droplet</vt:lpstr>
      <vt:lpstr>VIDEO GAME SALES PROJECT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UDEMY COURSES PERFORMANCE ANALYSIS REPORT</dc:title>
  <dc:creator>HP</dc:creator>
  <cp:lastModifiedBy>HP</cp:lastModifiedBy>
  <cp:revision>65</cp:revision>
  <dcterms:created xsi:type="dcterms:W3CDTF">2022-03-15T07:48:38Z</dcterms:created>
  <dcterms:modified xsi:type="dcterms:W3CDTF">2022-03-23T15:20:14Z</dcterms:modified>
</cp:coreProperties>
</file>