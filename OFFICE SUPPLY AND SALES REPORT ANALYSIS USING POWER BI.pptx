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60" r:id="rId4"/>
    <p:sldId id="259" r:id="rId5"/>
    <p:sldId id="258" r:id="rId6"/>
    <p:sldId id="266" r:id="rId7"/>
    <p:sldId id="267" r:id="rId8"/>
    <p:sldId id="269" r:id="rId9"/>
    <p:sldId id="270" r:id="rId10"/>
    <p:sldId id="271" r:id="rId11"/>
    <p:sldId id="272" r:id="rId12"/>
    <p:sldId id="273" r:id="rId13"/>
    <p:sldId id="274" r:id="rId14"/>
    <p:sldId id="275" r:id="rId15"/>
    <p:sldId id="276" r:id="rId16"/>
    <p:sldId id="277" r:id="rId17"/>
    <p:sldId id="262" r:id="rId18"/>
    <p:sldId id="264" r:id="rId19"/>
    <p:sldId id="280" r:id="rId20"/>
    <p:sldId id="281" r:id="rId21"/>
    <p:sldId id="282" r:id="rId22"/>
    <p:sldId id="283" r:id="rId23"/>
    <p:sldId id="284" r:id="rId24"/>
    <p:sldId id="286" r:id="rId25"/>
    <p:sldId id="287" r:id="rId26"/>
    <p:sldId id="289" r:id="rId27"/>
    <p:sldId id="291" r:id="rId28"/>
    <p:sldId id="293" r:id="rId29"/>
    <p:sldId id="294" r:id="rId30"/>
    <p:sldId id="295" r:id="rId31"/>
    <p:sldId id="296" r:id="rId32"/>
    <p:sldId id="297" r:id="rId33"/>
    <p:sldId id="300" r:id="rId34"/>
    <p:sldId id="299" r:id="rId35"/>
    <p:sldId id="301" r:id="rId36"/>
    <p:sldId id="302" r:id="rId37"/>
    <p:sldId id="30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11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8" d="100"/>
          <a:sy n="88" d="100"/>
        </p:scale>
        <p:origin x="5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593DF2C-DFC5-4ADF-8B4B-287F1EC4E5B6}" type="datetimeFigureOut">
              <a:rPr lang="en-US" smtClean="0"/>
              <a:t>12/16/2021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2709148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93DF2C-DFC5-4ADF-8B4B-287F1EC4E5B6}" type="datetimeFigureOut">
              <a:rPr lang="en-US" smtClean="0"/>
              <a:t>12/16/2021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4032083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593DF2C-DFC5-4ADF-8B4B-287F1EC4E5B6}" type="datetimeFigureOut">
              <a:rPr lang="en-US" smtClean="0"/>
              <a:t>12/16/2021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1202066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593DF2C-DFC5-4ADF-8B4B-287F1EC4E5B6}" type="datetimeFigureOut">
              <a:rPr lang="en-US" smtClean="0"/>
              <a:t>12/16/2021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2631582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593DF2C-DFC5-4ADF-8B4B-287F1EC4E5B6}" type="datetimeFigureOut">
              <a:rPr lang="en-US" smtClean="0"/>
              <a:t>12/16/2021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3536279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93DF2C-DFC5-4ADF-8B4B-287F1EC4E5B6}" type="datetimeFigureOut">
              <a:rPr lang="en-US" smtClean="0"/>
              <a:t>12/16/2021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4145003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3DF2C-DFC5-4ADF-8B4B-287F1EC4E5B6}" type="datetimeFigureOut">
              <a:rPr lang="en-US" smtClean="0"/>
              <a:t>12/16/2021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516053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593DF2C-DFC5-4ADF-8B4B-287F1EC4E5B6}" type="datetimeFigureOut">
              <a:rPr lang="en-US" smtClean="0"/>
              <a:t>12/16/2021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3553237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593DF2C-DFC5-4ADF-8B4B-287F1EC4E5B6}" type="datetimeFigureOut">
              <a:rPr lang="en-US" smtClean="0"/>
              <a:t>12/16/2021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3271161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93DF2C-DFC5-4ADF-8B4B-287F1EC4E5B6}" type="datetimeFigureOut">
              <a:rPr lang="en-US" smtClean="0"/>
              <a:t>12/16/2021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3528867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93DF2C-DFC5-4ADF-8B4B-287F1EC4E5B6}" type="datetimeFigureOut">
              <a:rPr lang="en-US" smtClean="0"/>
              <a:t>12/16/2021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FD6B0-9CA1-4758-BE97-35A972959FC0}" type="slidenum">
              <a:rPr lang="en-US" smtClean="0"/>
              <a:t>‹#›</a:t>
            </a:fld>
            <a:endParaRPr lang="en-US"/>
          </a:p>
        </p:txBody>
      </p:sp>
    </p:spTree>
    <p:extLst>
      <p:ext uri="{BB962C8B-B14F-4D97-AF65-F5344CB8AC3E}">
        <p14:creationId xmlns:p14="http://schemas.microsoft.com/office/powerpoint/2010/main" val="2499580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3DF2C-DFC5-4ADF-8B4B-287F1EC4E5B6}" type="datetimeFigureOut">
              <a:rPr lang="en-US" smtClean="0"/>
              <a:t>12/16/2021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9FD6B0-9CA1-4758-BE97-35A972959FC0}" type="slidenum">
              <a:rPr lang="en-US" smtClean="0"/>
              <a:t>‹#›</a:t>
            </a:fld>
            <a:endParaRPr lang="en-US"/>
          </a:p>
        </p:txBody>
      </p:sp>
    </p:spTree>
    <p:extLst>
      <p:ext uri="{BB962C8B-B14F-4D97-AF65-F5344CB8AC3E}">
        <p14:creationId xmlns:p14="http://schemas.microsoft.com/office/powerpoint/2010/main" val="57623591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xml"/><Relationship Id="rId5" Type="http://schemas.openxmlformats.org/officeDocument/2006/relationships/image" Target="../media/image71.png"/><Relationship Id="rId4" Type="http://schemas.openxmlformats.org/officeDocument/2006/relationships/image" Target="../media/image7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3F113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42999" y="414792"/>
            <a:ext cx="9329057" cy="2387600"/>
          </a:xfrm>
        </p:spPr>
        <p:txBody>
          <a:bodyPr/>
          <a:lstStyle/>
          <a:p>
            <a:r>
              <a:rPr lang="en-US" dirty="0" smtClean="0">
                <a:solidFill>
                  <a:schemeClr val="bg1"/>
                </a:solidFill>
                <a:latin typeface="Century Gothic" panose="020B0502020202020204" pitchFamily="34" charset="0"/>
              </a:rPr>
              <a:t>POWER BI ASSIGNMENT  PRESENTATION</a:t>
            </a:r>
            <a:endParaRPr lang="en-US" dirty="0">
              <a:solidFill>
                <a:schemeClr val="bg1"/>
              </a:solidFill>
              <a:latin typeface="Century Gothic" panose="020B0502020202020204" pitchFamily="34" charset="0"/>
            </a:endParaRPr>
          </a:p>
        </p:txBody>
      </p:sp>
      <p:sp>
        <p:nvSpPr>
          <p:cNvPr id="3" name="Subtitle 2"/>
          <p:cNvSpPr>
            <a:spLocks noGrp="1"/>
          </p:cNvSpPr>
          <p:nvPr>
            <p:ph type="subTitle" idx="1"/>
          </p:nvPr>
        </p:nvSpPr>
        <p:spPr>
          <a:xfrm>
            <a:off x="1523999" y="3233057"/>
            <a:ext cx="9241971" cy="2024743"/>
          </a:xfrm>
        </p:spPr>
        <p:txBody>
          <a:bodyPr>
            <a:noAutofit/>
          </a:bodyPr>
          <a:lstStyle/>
          <a:p>
            <a:r>
              <a:rPr lang="en-US" b="1" dirty="0" smtClean="0">
                <a:solidFill>
                  <a:schemeClr val="bg1"/>
                </a:solidFill>
                <a:latin typeface="Century Gothic" panose="020B0502020202020204" pitchFamily="34" charset="0"/>
              </a:rPr>
              <a:t>GROUP 2</a:t>
            </a:r>
          </a:p>
          <a:p>
            <a:r>
              <a:rPr lang="en-US" dirty="0" smtClean="0">
                <a:solidFill>
                  <a:schemeClr val="bg1"/>
                </a:solidFill>
                <a:latin typeface="Century Gothic" panose="020B0502020202020204" pitchFamily="34" charset="0"/>
              </a:rPr>
              <a:t>OLARONKE ADEGBITE</a:t>
            </a:r>
          </a:p>
          <a:p>
            <a:r>
              <a:rPr lang="en-US" dirty="0" smtClean="0">
                <a:solidFill>
                  <a:schemeClr val="bg1"/>
                </a:solidFill>
                <a:latin typeface="Century Gothic" panose="020B0502020202020204" pitchFamily="34" charset="0"/>
              </a:rPr>
              <a:t>ADEIFE ADELEYE</a:t>
            </a:r>
          </a:p>
          <a:p>
            <a:r>
              <a:rPr lang="en-US" dirty="0" smtClean="0">
                <a:solidFill>
                  <a:schemeClr val="bg1"/>
                </a:solidFill>
                <a:latin typeface="Century Gothic" panose="020B0502020202020204" pitchFamily="34" charset="0"/>
              </a:rPr>
              <a:t>KINDNESS ALOZIE</a:t>
            </a:r>
            <a:endParaRPr lang="en-US"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231244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2660"/>
            <a:ext cx="6738257" cy="762000"/>
          </a:xfrm>
        </p:spPr>
        <p:txBody>
          <a:bodyPr>
            <a:normAutofit/>
          </a:bodyPr>
          <a:lstStyle/>
          <a:p>
            <a:r>
              <a:rPr lang="en-US" sz="4800" b="1" dirty="0" smtClean="0">
                <a:latin typeface="Century Gothic" panose="020B0502020202020204" pitchFamily="34" charset="0"/>
              </a:rPr>
              <a:t>EXECUTIVE SUMMARY</a:t>
            </a:r>
            <a:endParaRPr lang="en-US" sz="4800" b="1" dirty="0">
              <a:latin typeface="Century Gothic" panose="020B0502020202020204" pitchFamily="34" charset="0"/>
            </a:endParaRPr>
          </a:p>
        </p:txBody>
      </p:sp>
      <p:pic>
        <p:nvPicPr>
          <p:cNvPr id="5" name="Picture 4"/>
          <p:cNvPicPr>
            <a:picLocks noChangeAspect="1"/>
          </p:cNvPicPr>
          <p:nvPr/>
        </p:nvPicPr>
        <p:blipFill>
          <a:blip r:embed="rId2"/>
          <a:stretch>
            <a:fillRect/>
          </a:stretch>
        </p:blipFill>
        <p:spPr>
          <a:xfrm>
            <a:off x="0" y="564690"/>
            <a:ext cx="12192000" cy="6293309"/>
          </a:xfrm>
          <a:prstGeom prst="rect">
            <a:avLst/>
          </a:prstGeom>
        </p:spPr>
      </p:pic>
    </p:spTree>
    <p:extLst>
      <p:ext uri="{BB962C8B-B14F-4D97-AF65-F5344CB8AC3E}">
        <p14:creationId xmlns:p14="http://schemas.microsoft.com/office/powerpoint/2010/main" val="18308712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2660"/>
            <a:ext cx="6738257" cy="762000"/>
          </a:xfrm>
        </p:spPr>
        <p:txBody>
          <a:bodyPr>
            <a:normAutofit/>
          </a:bodyPr>
          <a:lstStyle/>
          <a:p>
            <a:r>
              <a:rPr lang="en-US" sz="4800" b="1" dirty="0" smtClean="0">
                <a:latin typeface="Century Gothic" panose="020B0502020202020204" pitchFamily="34" charset="0"/>
              </a:rPr>
              <a:t>EXECUTIVE SUMMARY</a:t>
            </a:r>
            <a:endParaRPr lang="en-US" sz="4800" b="1" dirty="0">
              <a:latin typeface="Century Gothic" panose="020B0502020202020204" pitchFamily="34" charset="0"/>
            </a:endParaRPr>
          </a:p>
        </p:txBody>
      </p:sp>
      <p:pic>
        <p:nvPicPr>
          <p:cNvPr id="5" name="Picture 4"/>
          <p:cNvPicPr>
            <a:picLocks noChangeAspect="1"/>
          </p:cNvPicPr>
          <p:nvPr/>
        </p:nvPicPr>
        <p:blipFill>
          <a:blip r:embed="rId2"/>
          <a:stretch>
            <a:fillRect/>
          </a:stretch>
        </p:blipFill>
        <p:spPr>
          <a:xfrm>
            <a:off x="0" y="585025"/>
            <a:ext cx="12228576" cy="6308725"/>
          </a:xfrm>
          <a:prstGeom prst="rect">
            <a:avLst/>
          </a:prstGeom>
        </p:spPr>
      </p:pic>
    </p:spTree>
    <p:extLst>
      <p:ext uri="{BB962C8B-B14F-4D97-AF65-F5344CB8AC3E}">
        <p14:creationId xmlns:p14="http://schemas.microsoft.com/office/powerpoint/2010/main" val="20037144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2660"/>
            <a:ext cx="6738257" cy="762000"/>
          </a:xfrm>
        </p:spPr>
        <p:txBody>
          <a:bodyPr>
            <a:normAutofit/>
          </a:bodyPr>
          <a:lstStyle/>
          <a:p>
            <a:r>
              <a:rPr lang="en-US" sz="4800" b="1" dirty="0" smtClean="0">
                <a:latin typeface="Century Gothic" panose="020B0502020202020204" pitchFamily="34" charset="0"/>
              </a:rPr>
              <a:t>EXECUTIVE SUMMARY</a:t>
            </a:r>
            <a:endParaRPr lang="en-US" sz="4800" b="1" dirty="0">
              <a:latin typeface="Century Gothic" panose="020B0502020202020204" pitchFamily="34" charset="0"/>
            </a:endParaRPr>
          </a:p>
        </p:txBody>
      </p:sp>
      <p:pic>
        <p:nvPicPr>
          <p:cNvPr id="7" name="Picture 6"/>
          <p:cNvPicPr>
            <a:picLocks noChangeAspect="1"/>
          </p:cNvPicPr>
          <p:nvPr/>
        </p:nvPicPr>
        <p:blipFill>
          <a:blip r:embed="rId2"/>
          <a:stretch>
            <a:fillRect/>
          </a:stretch>
        </p:blipFill>
        <p:spPr>
          <a:xfrm>
            <a:off x="-1" y="549048"/>
            <a:ext cx="12192001" cy="6269512"/>
          </a:xfrm>
          <a:prstGeom prst="rect">
            <a:avLst/>
          </a:prstGeom>
        </p:spPr>
      </p:pic>
    </p:spTree>
    <p:extLst>
      <p:ext uri="{BB962C8B-B14F-4D97-AF65-F5344CB8AC3E}">
        <p14:creationId xmlns:p14="http://schemas.microsoft.com/office/powerpoint/2010/main" val="2166641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587829"/>
          </a:xfrm>
        </p:spPr>
        <p:txBody>
          <a:bodyPr>
            <a:normAutofit fontScale="90000"/>
          </a:bodyPr>
          <a:lstStyle/>
          <a:p>
            <a:pPr algn="l"/>
            <a:r>
              <a:rPr lang="en-US" sz="4800" b="1" dirty="0" smtClean="0">
                <a:latin typeface="Century Gothic" panose="020B0502020202020204" pitchFamily="34" charset="0"/>
              </a:rPr>
              <a:t>KEY FINDINGS</a:t>
            </a:r>
            <a:endParaRPr lang="en-US" sz="4800" b="1" dirty="0">
              <a:latin typeface="Century Gothic" panose="020B0502020202020204" pitchFamily="34" charset="0"/>
            </a:endParaRPr>
          </a:p>
        </p:txBody>
      </p:sp>
      <p:sp>
        <p:nvSpPr>
          <p:cNvPr id="5" name="Subtitle 2"/>
          <p:cNvSpPr>
            <a:spLocks noGrp="1"/>
          </p:cNvSpPr>
          <p:nvPr>
            <p:ph type="subTitle" idx="1"/>
          </p:nvPr>
        </p:nvSpPr>
        <p:spPr>
          <a:xfrm>
            <a:off x="5323117" y="1219539"/>
            <a:ext cx="5998029" cy="1545433"/>
          </a:xfrm>
        </p:spPr>
        <p:txBody>
          <a:bodyPr>
            <a:noAutofit/>
          </a:bodyPr>
          <a:lstStyle/>
          <a:p>
            <a:pPr algn="just"/>
            <a:r>
              <a:rPr lang="en-US" sz="1600" dirty="0" smtClean="0">
                <a:latin typeface="Century Gothic" panose="020B0502020202020204" pitchFamily="34" charset="0"/>
              </a:rPr>
              <a:t>Customers were sectioned into four categories/segments out of which Government category contributed majorly to revenue for the period under review. “</a:t>
            </a:r>
            <a:r>
              <a:rPr lang="en-US" sz="1600" b="1" dirty="0" smtClean="0">
                <a:latin typeface="Century Gothic" panose="020B0502020202020204" pitchFamily="34" charset="0"/>
              </a:rPr>
              <a:t>Government”</a:t>
            </a:r>
            <a:r>
              <a:rPr lang="en-US" sz="1600" dirty="0" smtClean="0">
                <a:latin typeface="Century Gothic" panose="020B0502020202020204" pitchFamily="34" charset="0"/>
              </a:rPr>
              <a:t> had a total revenue of </a:t>
            </a:r>
            <a:r>
              <a:rPr lang="en-US" sz="1600" b="1" dirty="0" smtClean="0">
                <a:latin typeface="Century Gothic" panose="020B0502020202020204" pitchFamily="34" charset="0"/>
              </a:rPr>
              <a:t>N53,541,264</a:t>
            </a:r>
            <a:r>
              <a:rPr lang="en-US" sz="1600" dirty="0" smtClean="0">
                <a:latin typeface="Century Gothic" panose="020B0502020202020204" pitchFamily="34" charset="0"/>
              </a:rPr>
              <a:t> contributing </a:t>
            </a:r>
            <a:r>
              <a:rPr lang="en-US" sz="1600" b="1" dirty="0" smtClean="0">
                <a:latin typeface="Century Gothic" panose="020B0502020202020204" pitchFamily="34" charset="0"/>
              </a:rPr>
              <a:t>44% </a:t>
            </a:r>
            <a:r>
              <a:rPr lang="en-US" sz="1600" dirty="0" smtClean="0">
                <a:latin typeface="Century Gothic" panose="020B0502020202020204" pitchFamily="34" charset="0"/>
              </a:rPr>
              <a:t>of the total revenue. The least category was “</a:t>
            </a:r>
            <a:r>
              <a:rPr lang="en-US" sz="1600" b="1" dirty="0" smtClean="0">
                <a:latin typeface="Century Gothic" panose="020B0502020202020204" pitchFamily="34" charset="0"/>
              </a:rPr>
              <a:t>Channel Partners”</a:t>
            </a:r>
            <a:r>
              <a:rPr lang="en-US" sz="1600" dirty="0" smtClean="0">
                <a:latin typeface="Century Gothic" panose="020B0502020202020204" pitchFamily="34" charset="0"/>
              </a:rPr>
              <a:t> with a total revenue of </a:t>
            </a:r>
            <a:r>
              <a:rPr lang="en-US" sz="1600" b="1" dirty="0" smtClean="0">
                <a:latin typeface="Century Gothic" panose="020B0502020202020204" pitchFamily="34" charset="0"/>
              </a:rPr>
              <a:t>N1,833,890.46</a:t>
            </a:r>
            <a:r>
              <a:rPr lang="en-US" sz="1600" dirty="0" smtClean="0">
                <a:latin typeface="Century Gothic" panose="020B0502020202020204" pitchFamily="34" charset="0"/>
              </a:rPr>
              <a:t> contributing </a:t>
            </a:r>
            <a:r>
              <a:rPr lang="en-US" sz="1600" b="1" dirty="0" smtClean="0">
                <a:latin typeface="Century Gothic" panose="020B0502020202020204" pitchFamily="34" charset="0"/>
              </a:rPr>
              <a:t>1.51% </a:t>
            </a:r>
            <a:r>
              <a:rPr lang="en-US" sz="1600" dirty="0" smtClean="0">
                <a:latin typeface="Century Gothic" panose="020B0502020202020204" pitchFamily="34" charset="0"/>
              </a:rPr>
              <a:t>of the total revenue.</a:t>
            </a:r>
          </a:p>
          <a:p>
            <a:pPr algn="just"/>
            <a:endParaRPr lang="en-US" sz="1600" dirty="0" smtClean="0">
              <a:latin typeface="Century Gothic" panose="020B0502020202020204" pitchFamily="34" charset="0"/>
            </a:endParaRPr>
          </a:p>
          <a:p>
            <a:pPr algn="just"/>
            <a:endParaRPr lang="en-US" sz="1600" dirty="0">
              <a:latin typeface="Century Gothic" panose="020B0502020202020204" pitchFamily="34" charset="0"/>
            </a:endParaRPr>
          </a:p>
        </p:txBody>
      </p:sp>
      <p:pic>
        <p:nvPicPr>
          <p:cNvPr id="4" name="Picture 3"/>
          <p:cNvPicPr>
            <a:picLocks noChangeAspect="1"/>
          </p:cNvPicPr>
          <p:nvPr/>
        </p:nvPicPr>
        <p:blipFill>
          <a:blip r:embed="rId2"/>
          <a:stretch>
            <a:fillRect/>
          </a:stretch>
        </p:blipFill>
        <p:spPr>
          <a:xfrm>
            <a:off x="489858" y="947737"/>
            <a:ext cx="3765644" cy="2252662"/>
          </a:xfrm>
          <a:prstGeom prst="rect">
            <a:avLst/>
          </a:prstGeom>
        </p:spPr>
      </p:pic>
      <p:sp>
        <p:nvSpPr>
          <p:cNvPr id="6" name="Rectangle 5"/>
          <p:cNvSpPr/>
          <p:nvPr/>
        </p:nvSpPr>
        <p:spPr>
          <a:xfrm>
            <a:off x="5323116" y="3792811"/>
            <a:ext cx="6106883" cy="1569660"/>
          </a:xfrm>
          <a:prstGeom prst="rect">
            <a:avLst/>
          </a:prstGeom>
        </p:spPr>
        <p:txBody>
          <a:bodyPr wrap="square">
            <a:spAutoFit/>
          </a:bodyPr>
          <a:lstStyle/>
          <a:p>
            <a:pPr algn="just"/>
            <a:r>
              <a:rPr lang="en-US" sz="1600" dirty="0">
                <a:latin typeface="Century Gothic" panose="020B0502020202020204" pitchFamily="34" charset="0"/>
              </a:rPr>
              <a:t>In terms of profit, </a:t>
            </a:r>
            <a:r>
              <a:rPr lang="en-US" sz="1600" b="1" dirty="0" smtClean="0">
                <a:latin typeface="Century Gothic" panose="020B0502020202020204" pitchFamily="34" charset="0"/>
              </a:rPr>
              <a:t>“Small </a:t>
            </a:r>
            <a:r>
              <a:rPr lang="en-US" sz="1600" b="1" dirty="0">
                <a:latin typeface="Century Gothic" panose="020B0502020202020204" pitchFamily="34" charset="0"/>
              </a:rPr>
              <a:t>Business </a:t>
            </a:r>
            <a:r>
              <a:rPr lang="en-US" sz="1600" b="1" dirty="0" smtClean="0">
                <a:latin typeface="Century Gothic" panose="020B0502020202020204" pitchFamily="34" charset="0"/>
              </a:rPr>
              <a:t>category” </a:t>
            </a:r>
            <a:r>
              <a:rPr lang="en-US" sz="1600" dirty="0">
                <a:latin typeface="Century Gothic" panose="020B0502020202020204" pitchFamily="34" charset="0"/>
              </a:rPr>
              <a:t>led the way with a total Profit After Tax (PAT) of  </a:t>
            </a:r>
            <a:r>
              <a:rPr lang="en-US" sz="1600" b="1" dirty="0">
                <a:latin typeface="Century Gothic" panose="020B0502020202020204" pitchFamily="34" charset="0"/>
              </a:rPr>
              <a:t>N25,910,384 </a:t>
            </a:r>
            <a:r>
              <a:rPr lang="en-US" sz="1600" dirty="0">
                <a:latin typeface="Century Gothic" panose="020B0502020202020204" pitchFamily="34" charset="0"/>
              </a:rPr>
              <a:t> representing </a:t>
            </a:r>
            <a:r>
              <a:rPr lang="en-US" sz="1600" b="1" dirty="0">
                <a:latin typeface="Century Gothic" panose="020B0502020202020204" pitchFamily="34" charset="0"/>
              </a:rPr>
              <a:t>66% </a:t>
            </a:r>
            <a:r>
              <a:rPr lang="en-US" sz="1600" dirty="0">
                <a:latin typeface="Century Gothic" panose="020B0502020202020204" pitchFamily="34" charset="0"/>
              </a:rPr>
              <a:t>of the total profit for the period under review. </a:t>
            </a:r>
            <a:r>
              <a:rPr lang="en-US" sz="1600" dirty="0" smtClean="0">
                <a:latin typeface="Century Gothic" panose="020B0502020202020204" pitchFamily="34" charset="0"/>
              </a:rPr>
              <a:t>“Mid Market” </a:t>
            </a:r>
            <a:r>
              <a:rPr lang="en-US" sz="1600" dirty="0">
                <a:latin typeface="Century Gothic" panose="020B0502020202020204" pitchFamily="34" charset="0"/>
              </a:rPr>
              <a:t>and </a:t>
            </a:r>
            <a:r>
              <a:rPr lang="en-US" sz="1600" b="1" dirty="0" smtClean="0">
                <a:latin typeface="Century Gothic" panose="020B0502020202020204" pitchFamily="34" charset="0"/>
              </a:rPr>
              <a:t>“Channel Partners” </a:t>
            </a:r>
            <a:r>
              <a:rPr lang="en-US" sz="1600" dirty="0">
                <a:latin typeface="Century Gothic" panose="020B0502020202020204" pitchFamily="34" charset="0"/>
              </a:rPr>
              <a:t>categories experienced a negative PAT of </a:t>
            </a:r>
            <a:r>
              <a:rPr lang="en-US" sz="1600" b="1" dirty="0">
                <a:latin typeface="Century Gothic" panose="020B0502020202020204" pitchFamily="34" charset="0"/>
              </a:rPr>
              <a:t>–N11,033,401 </a:t>
            </a:r>
            <a:r>
              <a:rPr lang="en-US" sz="1600" dirty="0">
                <a:latin typeface="Century Gothic" panose="020B0502020202020204" pitchFamily="34" charset="0"/>
              </a:rPr>
              <a:t>and </a:t>
            </a:r>
            <a:r>
              <a:rPr lang="en-US" sz="1600" b="1" dirty="0">
                <a:latin typeface="Century Gothic" panose="020B0502020202020204" pitchFamily="34" charset="0"/>
              </a:rPr>
              <a:t>–</a:t>
            </a:r>
            <a:r>
              <a:rPr lang="en-US" sz="1600" b="1" dirty="0" smtClean="0">
                <a:latin typeface="Century Gothic" panose="020B0502020202020204" pitchFamily="34" charset="0"/>
              </a:rPr>
              <a:t>N14,303,606</a:t>
            </a:r>
            <a:r>
              <a:rPr lang="en-US" sz="1600" dirty="0" smtClean="0">
                <a:latin typeface="Century Gothic" panose="020B0502020202020204" pitchFamily="34" charset="0"/>
              </a:rPr>
              <a:t> </a:t>
            </a:r>
            <a:r>
              <a:rPr lang="en-US" sz="1600" dirty="0">
                <a:latin typeface="Century Gothic" panose="020B0502020202020204" pitchFamily="34" charset="0"/>
              </a:rPr>
              <a:t>respectively.</a:t>
            </a:r>
          </a:p>
        </p:txBody>
      </p:sp>
      <p:pic>
        <p:nvPicPr>
          <p:cNvPr id="8" name="Picture 7"/>
          <p:cNvPicPr>
            <a:picLocks noChangeAspect="1"/>
          </p:cNvPicPr>
          <p:nvPr/>
        </p:nvPicPr>
        <p:blipFill>
          <a:blip r:embed="rId3"/>
          <a:stretch>
            <a:fillRect/>
          </a:stretch>
        </p:blipFill>
        <p:spPr>
          <a:xfrm>
            <a:off x="489858" y="3319462"/>
            <a:ext cx="3765644" cy="2657475"/>
          </a:xfrm>
          <a:prstGeom prst="rect">
            <a:avLst/>
          </a:prstGeom>
        </p:spPr>
      </p:pic>
    </p:spTree>
    <p:extLst>
      <p:ext uri="{BB962C8B-B14F-4D97-AF65-F5344CB8AC3E}">
        <p14:creationId xmlns:p14="http://schemas.microsoft.com/office/powerpoint/2010/main" val="1383292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587829"/>
          </a:xfrm>
        </p:spPr>
        <p:txBody>
          <a:bodyPr>
            <a:normAutofit fontScale="90000"/>
          </a:bodyPr>
          <a:lstStyle/>
          <a:p>
            <a:pPr algn="l"/>
            <a:r>
              <a:rPr lang="en-US" sz="4800" b="1" dirty="0" smtClean="0">
                <a:latin typeface="Century Gothic" panose="020B0502020202020204" pitchFamily="34" charset="0"/>
              </a:rPr>
              <a:t>KEY FINDINGS</a:t>
            </a:r>
            <a:endParaRPr lang="en-US" sz="4800" b="1" dirty="0">
              <a:latin typeface="Century Gothic" panose="020B0502020202020204" pitchFamily="34" charset="0"/>
            </a:endParaRPr>
          </a:p>
        </p:txBody>
      </p:sp>
      <p:sp>
        <p:nvSpPr>
          <p:cNvPr id="5" name="Subtitle 2"/>
          <p:cNvSpPr>
            <a:spLocks noGrp="1"/>
          </p:cNvSpPr>
          <p:nvPr>
            <p:ph type="subTitle" idx="1"/>
          </p:nvPr>
        </p:nvSpPr>
        <p:spPr>
          <a:xfrm>
            <a:off x="5421088" y="1450260"/>
            <a:ext cx="5998029" cy="1545433"/>
          </a:xfrm>
        </p:spPr>
        <p:txBody>
          <a:bodyPr>
            <a:noAutofit/>
          </a:bodyPr>
          <a:lstStyle/>
          <a:p>
            <a:pPr algn="just"/>
            <a:r>
              <a:rPr lang="en-US" sz="1600" dirty="0">
                <a:latin typeface="Century Gothic" panose="020B0502020202020204" pitchFamily="34" charset="0"/>
              </a:rPr>
              <a:t>For the states analyzed, </a:t>
            </a:r>
            <a:r>
              <a:rPr lang="en-US" sz="1600" b="1" dirty="0" smtClean="0">
                <a:latin typeface="Century Gothic" panose="020B0502020202020204" pitchFamily="34" charset="0"/>
              </a:rPr>
              <a:t>“Oyo State” </a:t>
            </a:r>
            <a:r>
              <a:rPr lang="en-US" sz="1600" dirty="0">
                <a:latin typeface="Century Gothic" panose="020B0502020202020204" pitchFamily="34" charset="0"/>
              </a:rPr>
              <a:t>was the highest performing state with a revenue of </a:t>
            </a:r>
            <a:r>
              <a:rPr lang="en-US" sz="1600" b="1" dirty="0">
                <a:latin typeface="Century Gothic" panose="020B0502020202020204" pitchFamily="34" charset="0"/>
              </a:rPr>
              <a:t>N25,551,372</a:t>
            </a:r>
            <a:r>
              <a:rPr lang="en-US" sz="1600" dirty="0">
                <a:latin typeface="Century Gothic" panose="020B0502020202020204" pitchFamily="34" charset="0"/>
              </a:rPr>
              <a:t> while </a:t>
            </a:r>
            <a:r>
              <a:rPr lang="en-US" sz="1600" b="1" dirty="0" smtClean="0">
                <a:latin typeface="Century Gothic" panose="020B0502020202020204" pitchFamily="34" charset="0"/>
              </a:rPr>
              <a:t>“Ondo State” </a:t>
            </a:r>
            <a:r>
              <a:rPr lang="en-US" sz="1600" dirty="0">
                <a:latin typeface="Century Gothic" panose="020B0502020202020204" pitchFamily="34" charset="0"/>
              </a:rPr>
              <a:t>was the least performing state with a total revenue of </a:t>
            </a:r>
            <a:r>
              <a:rPr lang="en-US" sz="1600" b="1" dirty="0">
                <a:latin typeface="Century Gothic" panose="020B0502020202020204" pitchFamily="34" charset="0"/>
              </a:rPr>
              <a:t>N21,460,055</a:t>
            </a:r>
            <a:r>
              <a:rPr lang="en-US" sz="1600" dirty="0">
                <a:latin typeface="Century Gothic" panose="020B0502020202020204" pitchFamily="34" charset="0"/>
              </a:rPr>
              <a:t>. </a:t>
            </a:r>
            <a:endParaRPr lang="en-US" sz="1600" dirty="0" smtClean="0">
              <a:latin typeface="Century Gothic" panose="020B0502020202020204" pitchFamily="34" charset="0"/>
            </a:endParaRPr>
          </a:p>
          <a:p>
            <a:pPr algn="just"/>
            <a:endParaRPr lang="en-US" sz="1600" dirty="0">
              <a:latin typeface="Century Gothic" panose="020B0502020202020204" pitchFamily="34" charset="0"/>
            </a:endParaRPr>
          </a:p>
        </p:txBody>
      </p:sp>
      <p:sp>
        <p:nvSpPr>
          <p:cNvPr id="6" name="Rectangle 5"/>
          <p:cNvSpPr/>
          <p:nvPr/>
        </p:nvSpPr>
        <p:spPr>
          <a:xfrm>
            <a:off x="5421088" y="4155315"/>
            <a:ext cx="6096000" cy="1077218"/>
          </a:xfrm>
          <a:prstGeom prst="rect">
            <a:avLst/>
          </a:prstGeom>
        </p:spPr>
        <p:txBody>
          <a:bodyPr>
            <a:spAutoFit/>
          </a:bodyPr>
          <a:lstStyle/>
          <a:p>
            <a:pPr algn="just"/>
            <a:r>
              <a:rPr lang="en-US" sz="1600" dirty="0">
                <a:latin typeface="Century Gothic" panose="020B0502020202020204" pitchFamily="34" charset="0"/>
              </a:rPr>
              <a:t>In terms of profit,  </a:t>
            </a:r>
            <a:r>
              <a:rPr lang="en-US" sz="1600" dirty="0" smtClean="0">
                <a:latin typeface="Century Gothic" panose="020B0502020202020204" pitchFamily="34" charset="0"/>
              </a:rPr>
              <a:t>“</a:t>
            </a:r>
            <a:r>
              <a:rPr lang="en-US" sz="1600" b="1" dirty="0" smtClean="0">
                <a:latin typeface="Century Gothic" panose="020B0502020202020204" pitchFamily="34" charset="0"/>
              </a:rPr>
              <a:t>Osun State”</a:t>
            </a:r>
            <a:r>
              <a:rPr lang="en-US" sz="1600" dirty="0" smtClean="0">
                <a:latin typeface="Century Gothic" panose="020B0502020202020204" pitchFamily="34" charset="0"/>
              </a:rPr>
              <a:t> </a:t>
            </a:r>
            <a:r>
              <a:rPr lang="en-US" sz="1600" dirty="0">
                <a:latin typeface="Century Gothic" panose="020B0502020202020204" pitchFamily="34" charset="0"/>
              </a:rPr>
              <a:t>led the way with a PAT of </a:t>
            </a:r>
            <a:r>
              <a:rPr lang="en-US" sz="1600" b="1" dirty="0">
                <a:latin typeface="Century Gothic" panose="020B0502020202020204" pitchFamily="34" charset="0"/>
              </a:rPr>
              <a:t>N3,519,818</a:t>
            </a:r>
            <a:r>
              <a:rPr lang="en-US" sz="1600" dirty="0">
                <a:latin typeface="Century Gothic" panose="020B0502020202020204" pitchFamily="34" charset="0"/>
              </a:rPr>
              <a:t> while </a:t>
            </a:r>
            <a:r>
              <a:rPr lang="en-US" sz="1600" b="1" dirty="0" smtClean="0">
                <a:latin typeface="Century Gothic" panose="020B0502020202020204" pitchFamily="34" charset="0"/>
              </a:rPr>
              <a:t>“Ogun State” </a:t>
            </a:r>
            <a:r>
              <a:rPr lang="en-US" sz="1600" dirty="0">
                <a:latin typeface="Century Gothic" panose="020B0502020202020204" pitchFamily="34" charset="0"/>
              </a:rPr>
              <a:t>made a PAT of </a:t>
            </a:r>
            <a:r>
              <a:rPr lang="en-US" sz="1600" b="1" dirty="0">
                <a:latin typeface="Century Gothic" panose="020B0502020202020204" pitchFamily="34" charset="0"/>
              </a:rPr>
              <a:t>N2,168,667</a:t>
            </a:r>
            <a:r>
              <a:rPr lang="en-US" sz="1600" dirty="0">
                <a:latin typeface="Century Gothic" panose="020B0502020202020204" pitchFamily="34" charset="0"/>
              </a:rPr>
              <a:t> this can be attributed to the various manufacturing cost in each state.</a:t>
            </a:r>
          </a:p>
        </p:txBody>
      </p:sp>
      <p:pic>
        <p:nvPicPr>
          <p:cNvPr id="9" name="Picture 8"/>
          <p:cNvPicPr>
            <a:picLocks noChangeAspect="1"/>
          </p:cNvPicPr>
          <p:nvPr/>
        </p:nvPicPr>
        <p:blipFill>
          <a:blip r:embed="rId2"/>
          <a:stretch>
            <a:fillRect/>
          </a:stretch>
        </p:blipFill>
        <p:spPr>
          <a:xfrm>
            <a:off x="435430" y="877740"/>
            <a:ext cx="4495799" cy="2599980"/>
          </a:xfrm>
          <a:prstGeom prst="rect">
            <a:avLst/>
          </a:prstGeom>
        </p:spPr>
      </p:pic>
      <p:pic>
        <p:nvPicPr>
          <p:cNvPr id="11" name="Picture 10"/>
          <p:cNvPicPr>
            <a:picLocks noChangeAspect="1"/>
          </p:cNvPicPr>
          <p:nvPr/>
        </p:nvPicPr>
        <p:blipFill>
          <a:blip r:embed="rId3"/>
          <a:stretch>
            <a:fillRect/>
          </a:stretch>
        </p:blipFill>
        <p:spPr>
          <a:xfrm>
            <a:off x="313510" y="3652526"/>
            <a:ext cx="4487637" cy="2894578"/>
          </a:xfrm>
          <a:prstGeom prst="rect">
            <a:avLst/>
          </a:prstGeom>
        </p:spPr>
      </p:pic>
    </p:spTree>
    <p:extLst>
      <p:ext uri="{BB962C8B-B14F-4D97-AF65-F5344CB8AC3E}">
        <p14:creationId xmlns:p14="http://schemas.microsoft.com/office/powerpoint/2010/main" val="39351359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587829"/>
          </a:xfrm>
        </p:spPr>
        <p:txBody>
          <a:bodyPr>
            <a:normAutofit fontScale="90000"/>
          </a:bodyPr>
          <a:lstStyle/>
          <a:p>
            <a:pPr algn="l"/>
            <a:r>
              <a:rPr lang="en-US" sz="4800" b="1" dirty="0" smtClean="0">
                <a:latin typeface="Century Gothic" panose="020B0502020202020204" pitchFamily="34" charset="0"/>
              </a:rPr>
              <a:t>KEY FINDINGS</a:t>
            </a:r>
            <a:endParaRPr lang="en-US" sz="4800" b="1" dirty="0">
              <a:latin typeface="Century Gothic" panose="020B0502020202020204" pitchFamily="34" charset="0"/>
            </a:endParaRPr>
          </a:p>
        </p:txBody>
      </p:sp>
      <p:sp>
        <p:nvSpPr>
          <p:cNvPr id="6" name="Rectangle 5"/>
          <p:cNvSpPr/>
          <p:nvPr/>
        </p:nvSpPr>
        <p:spPr>
          <a:xfrm>
            <a:off x="5573488" y="4018940"/>
            <a:ext cx="6095998" cy="1323439"/>
          </a:xfrm>
          <a:prstGeom prst="rect">
            <a:avLst/>
          </a:prstGeom>
        </p:spPr>
        <p:txBody>
          <a:bodyPr wrap="square">
            <a:spAutoFit/>
          </a:bodyPr>
          <a:lstStyle/>
          <a:p>
            <a:pPr algn="just"/>
            <a:r>
              <a:rPr lang="en-US" sz="1600" dirty="0">
                <a:latin typeface="Century Gothic" panose="020B0502020202020204" pitchFamily="34" charset="0"/>
              </a:rPr>
              <a:t>In terms of </a:t>
            </a:r>
            <a:r>
              <a:rPr lang="en-US" sz="1600" dirty="0" smtClean="0">
                <a:latin typeface="Century Gothic" panose="020B0502020202020204" pitchFamily="34" charset="0"/>
              </a:rPr>
              <a:t>profit by product, </a:t>
            </a:r>
            <a:r>
              <a:rPr lang="en-US" sz="1600" b="1" dirty="0" smtClean="0">
                <a:latin typeface="Century Gothic" panose="020B0502020202020204" pitchFamily="34" charset="0"/>
              </a:rPr>
              <a:t>“Biro” </a:t>
            </a:r>
            <a:r>
              <a:rPr lang="en-US" sz="1600" dirty="0">
                <a:latin typeface="Century Gothic" panose="020B0502020202020204" pitchFamily="34" charset="0"/>
              </a:rPr>
              <a:t>led the way with a total Profit After Tax (PAT) of  </a:t>
            </a:r>
            <a:r>
              <a:rPr lang="en-US" sz="1600" b="1" dirty="0" smtClean="0">
                <a:latin typeface="Century Gothic" panose="020B0502020202020204" pitchFamily="34" charset="0"/>
              </a:rPr>
              <a:t>N28,863,809 </a:t>
            </a:r>
            <a:r>
              <a:rPr lang="en-US" sz="1600" dirty="0" smtClean="0">
                <a:latin typeface="Century Gothic" panose="020B0502020202020204" pitchFamily="34" charset="0"/>
              </a:rPr>
              <a:t> </a:t>
            </a:r>
            <a:r>
              <a:rPr lang="en-US" sz="1600" dirty="0">
                <a:latin typeface="Century Gothic" panose="020B0502020202020204" pitchFamily="34" charset="0"/>
              </a:rPr>
              <a:t>representing </a:t>
            </a:r>
            <a:r>
              <a:rPr lang="en-US" sz="1600" b="1" dirty="0" smtClean="0">
                <a:latin typeface="Century Gothic" panose="020B0502020202020204" pitchFamily="34" charset="0"/>
              </a:rPr>
              <a:t>52% </a:t>
            </a:r>
            <a:r>
              <a:rPr lang="en-US" sz="1600" dirty="0">
                <a:latin typeface="Century Gothic" panose="020B0502020202020204" pitchFamily="34" charset="0"/>
              </a:rPr>
              <a:t>of the total profit for the period under review. </a:t>
            </a:r>
            <a:r>
              <a:rPr lang="en-US" sz="1600" b="1" dirty="0" smtClean="0">
                <a:latin typeface="Century Gothic" panose="020B0502020202020204" pitchFamily="34" charset="0"/>
              </a:rPr>
              <a:t>“Notepad” </a:t>
            </a:r>
            <a:r>
              <a:rPr lang="en-US" sz="1600" dirty="0" smtClean="0">
                <a:latin typeface="Century Gothic" panose="020B0502020202020204" pitchFamily="34" charset="0"/>
              </a:rPr>
              <a:t>and </a:t>
            </a:r>
            <a:r>
              <a:rPr lang="en-US" sz="1600" b="1" dirty="0" smtClean="0">
                <a:latin typeface="Century Gothic" panose="020B0502020202020204" pitchFamily="34" charset="0"/>
              </a:rPr>
              <a:t>“Stapler” </a:t>
            </a:r>
            <a:r>
              <a:rPr lang="en-US" sz="1600" dirty="0" smtClean="0">
                <a:latin typeface="Century Gothic" panose="020B0502020202020204" pitchFamily="34" charset="0"/>
              </a:rPr>
              <a:t>experienced </a:t>
            </a:r>
            <a:r>
              <a:rPr lang="en-US" sz="1600" dirty="0">
                <a:latin typeface="Century Gothic" panose="020B0502020202020204" pitchFamily="34" charset="0"/>
              </a:rPr>
              <a:t>a negative PAT of </a:t>
            </a:r>
            <a:r>
              <a:rPr lang="en-US" sz="1600" b="1" dirty="0">
                <a:latin typeface="Century Gothic" panose="020B0502020202020204" pitchFamily="34" charset="0"/>
              </a:rPr>
              <a:t>–</a:t>
            </a:r>
            <a:r>
              <a:rPr lang="en-US" sz="1600" b="1" dirty="0" smtClean="0">
                <a:latin typeface="Century Gothic" panose="020B0502020202020204" pitchFamily="34" charset="0"/>
              </a:rPr>
              <a:t>N20,224,835 </a:t>
            </a:r>
            <a:r>
              <a:rPr lang="en-US" sz="1600" dirty="0">
                <a:latin typeface="Century Gothic" panose="020B0502020202020204" pitchFamily="34" charset="0"/>
              </a:rPr>
              <a:t>and </a:t>
            </a:r>
            <a:r>
              <a:rPr lang="en-US" sz="1600" b="1" dirty="0">
                <a:latin typeface="Century Gothic" panose="020B0502020202020204" pitchFamily="34" charset="0"/>
              </a:rPr>
              <a:t>–</a:t>
            </a:r>
            <a:r>
              <a:rPr lang="en-US" sz="1600" b="1" dirty="0" smtClean="0">
                <a:latin typeface="Century Gothic" panose="020B0502020202020204" pitchFamily="34" charset="0"/>
              </a:rPr>
              <a:t>N21,197, 814</a:t>
            </a:r>
            <a:r>
              <a:rPr lang="en-US" sz="1600" dirty="0" smtClean="0">
                <a:latin typeface="Century Gothic" panose="020B0502020202020204" pitchFamily="34" charset="0"/>
              </a:rPr>
              <a:t> </a:t>
            </a:r>
            <a:r>
              <a:rPr lang="en-US" sz="1600" dirty="0">
                <a:latin typeface="Century Gothic" panose="020B0502020202020204" pitchFamily="34" charset="0"/>
              </a:rPr>
              <a:t>respectively.</a:t>
            </a:r>
          </a:p>
        </p:txBody>
      </p:sp>
      <p:pic>
        <p:nvPicPr>
          <p:cNvPr id="7" name="Picture 6"/>
          <p:cNvPicPr>
            <a:picLocks noChangeAspect="1"/>
          </p:cNvPicPr>
          <p:nvPr/>
        </p:nvPicPr>
        <p:blipFill>
          <a:blip r:embed="rId2"/>
          <a:stretch>
            <a:fillRect/>
          </a:stretch>
        </p:blipFill>
        <p:spPr>
          <a:xfrm>
            <a:off x="659264" y="3618638"/>
            <a:ext cx="4217535" cy="2454650"/>
          </a:xfrm>
          <a:prstGeom prst="rect">
            <a:avLst/>
          </a:prstGeom>
        </p:spPr>
      </p:pic>
      <p:sp>
        <p:nvSpPr>
          <p:cNvPr id="11" name="Rectangle 10"/>
          <p:cNvSpPr/>
          <p:nvPr/>
        </p:nvSpPr>
        <p:spPr>
          <a:xfrm>
            <a:off x="5464629" y="1226070"/>
            <a:ext cx="6096000" cy="1323439"/>
          </a:xfrm>
          <a:prstGeom prst="rect">
            <a:avLst/>
          </a:prstGeom>
        </p:spPr>
        <p:txBody>
          <a:bodyPr>
            <a:spAutoFit/>
          </a:bodyPr>
          <a:lstStyle/>
          <a:p>
            <a:pPr algn="just"/>
            <a:r>
              <a:rPr lang="en-US" sz="1600" dirty="0" smtClean="0">
                <a:latin typeface="Century Gothic" panose="020B0502020202020204" pitchFamily="34" charset="0"/>
              </a:rPr>
              <a:t>Looking at the revenue generated by each product for the period under review, the </a:t>
            </a:r>
            <a:r>
              <a:rPr lang="en-US" sz="1600" dirty="0">
                <a:latin typeface="Century Gothic" panose="020B0502020202020204" pitchFamily="34" charset="0"/>
              </a:rPr>
              <a:t>top performing product </a:t>
            </a:r>
            <a:r>
              <a:rPr lang="en-US" sz="1600" dirty="0" smtClean="0">
                <a:latin typeface="Century Gothic" panose="020B0502020202020204" pitchFamily="34" charset="0"/>
              </a:rPr>
              <a:t>was “</a:t>
            </a:r>
            <a:r>
              <a:rPr lang="en-US" sz="1600" b="1" dirty="0" smtClean="0">
                <a:latin typeface="Century Gothic" panose="020B0502020202020204" pitchFamily="34" charset="0"/>
              </a:rPr>
              <a:t>Biro”</a:t>
            </a:r>
            <a:r>
              <a:rPr lang="en-US" sz="1600" dirty="0" smtClean="0">
                <a:latin typeface="Century Gothic" panose="020B0502020202020204" pitchFamily="34" charset="0"/>
              </a:rPr>
              <a:t>, </a:t>
            </a:r>
            <a:r>
              <a:rPr lang="en-US" sz="1600" dirty="0">
                <a:latin typeface="Century Gothic" panose="020B0502020202020204" pitchFamily="34" charset="0"/>
              </a:rPr>
              <a:t>with a revenue of </a:t>
            </a:r>
            <a:r>
              <a:rPr lang="en-US" sz="1600" b="1" dirty="0" smtClean="0">
                <a:latin typeface="Century Gothic" panose="020B0502020202020204" pitchFamily="34" charset="0"/>
              </a:rPr>
              <a:t>N33,765,351</a:t>
            </a:r>
            <a:r>
              <a:rPr lang="en-US" sz="1600" dirty="0" smtClean="0">
                <a:latin typeface="Century Gothic" panose="020B0502020202020204" pitchFamily="34" charset="0"/>
              </a:rPr>
              <a:t> While </a:t>
            </a:r>
            <a:r>
              <a:rPr lang="en-US" sz="1600" dirty="0">
                <a:latin typeface="Century Gothic" panose="020B0502020202020204" pitchFamily="34" charset="0"/>
              </a:rPr>
              <a:t>the least </a:t>
            </a:r>
            <a:r>
              <a:rPr lang="en-US" sz="1600" dirty="0" smtClean="0">
                <a:latin typeface="Century Gothic" panose="020B0502020202020204" pitchFamily="34" charset="0"/>
              </a:rPr>
              <a:t>product </a:t>
            </a:r>
            <a:r>
              <a:rPr lang="en-US" sz="1600" dirty="0">
                <a:latin typeface="Century Gothic" panose="020B0502020202020204" pitchFamily="34" charset="0"/>
              </a:rPr>
              <a:t>was </a:t>
            </a:r>
            <a:r>
              <a:rPr lang="en-US" sz="1600" b="1" dirty="0" smtClean="0">
                <a:latin typeface="Century Gothic" panose="020B0502020202020204" pitchFamily="34" charset="0"/>
              </a:rPr>
              <a:t>“A4 paper” </a:t>
            </a:r>
            <a:r>
              <a:rPr lang="en-US" sz="1600" dirty="0">
                <a:latin typeface="Century Gothic" panose="020B0502020202020204" pitchFamily="34" charset="0"/>
              </a:rPr>
              <a:t>with a total revenue of </a:t>
            </a:r>
            <a:r>
              <a:rPr lang="en-US" sz="1600" b="1" dirty="0" smtClean="0">
                <a:latin typeface="Century Gothic" panose="020B0502020202020204" pitchFamily="34" charset="0"/>
              </a:rPr>
              <a:t>N14,094,163</a:t>
            </a:r>
            <a:r>
              <a:rPr lang="en-US" sz="1600" dirty="0" smtClean="0">
                <a:latin typeface="Century Gothic" panose="020B0502020202020204" pitchFamily="34" charset="0"/>
              </a:rPr>
              <a:t>.</a:t>
            </a:r>
            <a:endParaRPr lang="en-US" sz="1600" dirty="0">
              <a:latin typeface="Century Gothic" panose="020B0502020202020204" pitchFamily="34" charset="0"/>
            </a:endParaRPr>
          </a:p>
        </p:txBody>
      </p:sp>
      <p:pic>
        <p:nvPicPr>
          <p:cNvPr id="12" name="Picture 11"/>
          <p:cNvPicPr>
            <a:picLocks noChangeAspect="1"/>
          </p:cNvPicPr>
          <p:nvPr/>
        </p:nvPicPr>
        <p:blipFill>
          <a:blip r:embed="rId3"/>
          <a:stretch>
            <a:fillRect/>
          </a:stretch>
        </p:blipFill>
        <p:spPr>
          <a:xfrm>
            <a:off x="659265" y="853847"/>
            <a:ext cx="4682747" cy="2139724"/>
          </a:xfrm>
          <a:prstGeom prst="rect">
            <a:avLst/>
          </a:prstGeom>
        </p:spPr>
      </p:pic>
    </p:spTree>
    <p:extLst>
      <p:ext uri="{BB962C8B-B14F-4D97-AF65-F5344CB8AC3E}">
        <p14:creationId xmlns:p14="http://schemas.microsoft.com/office/powerpoint/2010/main" val="5280136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3591"/>
            <a:ext cx="12192000" cy="587829"/>
          </a:xfrm>
        </p:spPr>
        <p:txBody>
          <a:bodyPr>
            <a:normAutofit/>
          </a:bodyPr>
          <a:lstStyle/>
          <a:p>
            <a:pPr algn="l"/>
            <a:r>
              <a:rPr lang="en-US" sz="2800" b="1" dirty="0" smtClean="0">
                <a:latin typeface="Century Gothic" panose="020B0502020202020204" pitchFamily="34" charset="0"/>
              </a:rPr>
              <a:t>SALES ANALYSIS FOR EACH PRODUCT IN 2014</a:t>
            </a:r>
            <a:endParaRPr lang="en-US" sz="2800" b="1" dirty="0">
              <a:latin typeface="Century Gothic" panose="020B0502020202020204" pitchFamily="34" charset="0"/>
            </a:endParaRPr>
          </a:p>
        </p:txBody>
      </p:sp>
      <p:sp>
        <p:nvSpPr>
          <p:cNvPr id="5" name="Subtitle 2"/>
          <p:cNvSpPr>
            <a:spLocks noGrp="1"/>
          </p:cNvSpPr>
          <p:nvPr>
            <p:ph type="subTitle" idx="1"/>
          </p:nvPr>
        </p:nvSpPr>
        <p:spPr>
          <a:xfrm>
            <a:off x="5774873" y="3570816"/>
            <a:ext cx="5998029" cy="1545433"/>
          </a:xfrm>
        </p:spPr>
        <p:txBody>
          <a:bodyPr>
            <a:noAutofit/>
          </a:bodyPr>
          <a:lstStyle/>
          <a:p>
            <a:pPr algn="just"/>
            <a:endParaRPr lang="en-US" sz="1600" dirty="0" smtClean="0">
              <a:latin typeface="Century Gothic" panose="020B0502020202020204" pitchFamily="34" charset="0"/>
            </a:endParaRPr>
          </a:p>
          <a:p>
            <a:pPr algn="just"/>
            <a:endParaRPr lang="en-US" sz="1600" dirty="0">
              <a:latin typeface="Century Gothic" panose="020B0502020202020204" pitchFamily="34" charset="0"/>
            </a:endParaRPr>
          </a:p>
        </p:txBody>
      </p:sp>
      <p:sp>
        <p:nvSpPr>
          <p:cNvPr id="6" name="Rectangle 5"/>
          <p:cNvSpPr/>
          <p:nvPr/>
        </p:nvSpPr>
        <p:spPr>
          <a:xfrm>
            <a:off x="261256" y="3881867"/>
            <a:ext cx="1251858" cy="461665"/>
          </a:xfrm>
          <a:prstGeom prst="rect">
            <a:avLst/>
          </a:prstGeom>
        </p:spPr>
        <p:txBody>
          <a:bodyPr wrap="square">
            <a:spAutoFit/>
          </a:bodyPr>
          <a:lstStyle/>
          <a:p>
            <a:pPr algn="just"/>
            <a:r>
              <a:rPr lang="en-US" sz="2400" b="1" dirty="0" smtClean="0">
                <a:latin typeface="Century Gothic" panose="020B0502020202020204" pitchFamily="34" charset="0"/>
              </a:rPr>
              <a:t>PENCIL</a:t>
            </a:r>
            <a:endParaRPr lang="en-US" sz="2400" b="1" dirty="0">
              <a:latin typeface="Century Gothic" panose="020B0502020202020204" pitchFamily="34" charset="0"/>
            </a:endParaRPr>
          </a:p>
        </p:txBody>
      </p:sp>
      <p:pic>
        <p:nvPicPr>
          <p:cNvPr id="3" name="Picture 2"/>
          <p:cNvPicPr>
            <a:picLocks noChangeAspect="1"/>
          </p:cNvPicPr>
          <p:nvPr/>
        </p:nvPicPr>
        <p:blipFill>
          <a:blip r:embed="rId2"/>
          <a:stretch>
            <a:fillRect/>
          </a:stretch>
        </p:blipFill>
        <p:spPr>
          <a:xfrm>
            <a:off x="7524268" y="587828"/>
            <a:ext cx="4704308" cy="1097458"/>
          </a:xfrm>
          <a:prstGeom prst="rect">
            <a:avLst/>
          </a:prstGeom>
        </p:spPr>
      </p:pic>
      <p:sp>
        <p:nvSpPr>
          <p:cNvPr id="11" name="Rectangle 10"/>
          <p:cNvSpPr/>
          <p:nvPr/>
        </p:nvSpPr>
        <p:spPr>
          <a:xfrm>
            <a:off x="152399" y="906534"/>
            <a:ext cx="936171" cy="461665"/>
          </a:xfrm>
          <a:prstGeom prst="rect">
            <a:avLst/>
          </a:prstGeom>
        </p:spPr>
        <p:txBody>
          <a:bodyPr wrap="square">
            <a:spAutoFit/>
          </a:bodyPr>
          <a:lstStyle/>
          <a:p>
            <a:pPr algn="just"/>
            <a:r>
              <a:rPr lang="en-US" sz="2400" b="1" dirty="0" smtClean="0">
                <a:latin typeface="Century Gothic" panose="020B0502020202020204" pitchFamily="34" charset="0"/>
              </a:rPr>
              <a:t>BIRO</a:t>
            </a:r>
            <a:endParaRPr lang="en-US" sz="2400" b="1" dirty="0">
              <a:latin typeface="Century Gothic" panose="020B0502020202020204" pitchFamily="34" charset="0"/>
            </a:endParaRPr>
          </a:p>
        </p:txBody>
      </p:sp>
      <p:pic>
        <p:nvPicPr>
          <p:cNvPr id="8" name="Picture 7"/>
          <p:cNvPicPr>
            <a:picLocks noChangeAspect="1"/>
          </p:cNvPicPr>
          <p:nvPr/>
        </p:nvPicPr>
        <p:blipFill>
          <a:blip r:embed="rId3"/>
          <a:stretch>
            <a:fillRect/>
          </a:stretch>
        </p:blipFill>
        <p:spPr>
          <a:xfrm>
            <a:off x="783770" y="1368199"/>
            <a:ext cx="6771901" cy="2194962"/>
          </a:xfrm>
          <a:prstGeom prst="rect">
            <a:avLst/>
          </a:prstGeom>
        </p:spPr>
      </p:pic>
      <p:pic>
        <p:nvPicPr>
          <p:cNvPr id="12" name="Picture 11"/>
          <p:cNvPicPr>
            <a:picLocks noChangeAspect="1"/>
          </p:cNvPicPr>
          <p:nvPr/>
        </p:nvPicPr>
        <p:blipFill>
          <a:blip r:embed="rId4"/>
          <a:stretch>
            <a:fillRect/>
          </a:stretch>
        </p:blipFill>
        <p:spPr>
          <a:xfrm>
            <a:off x="7993516" y="3375532"/>
            <a:ext cx="4198484" cy="968000"/>
          </a:xfrm>
          <a:prstGeom prst="rect">
            <a:avLst/>
          </a:prstGeom>
        </p:spPr>
      </p:pic>
      <p:pic>
        <p:nvPicPr>
          <p:cNvPr id="13" name="Picture 12"/>
          <p:cNvPicPr>
            <a:picLocks noChangeAspect="1"/>
          </p:cNvPicPr>
          <p:nvPr/>
        </p:nvPicPr>
        <p:blipFill>
          <a:blip r:embed="rId5"/>
          <a:stretch>
            <a:fillRect/>
          </a:stretch>
        </p:blipFill>
        <p:spPr>
          <a:xfrm>
            <a:off x="783771" y="4351187"/>
            <a:ext cx="7298872" cy="2322853"/>
          </a:xfrm>
          <a:prstGeom prst="rect">
            <a:avLst/>
          </a:prstGeom>
        </p:spPr>
      </p:pic>
    </p:spTree>
    <p:extLst>
      <p:ext uri="{BB962C8B-B14F-4D97-AF65-F5344CB8AC3E}">
        <p14:creationId xmlns:p14="http://schemas.microsoft.com/office/powerpoint/2010/main" val="17974793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3"/>
            <a:ext cx="12192000" cy="587829"/>
          </a:xfrm>
        </p:spPr>
        <p:txBody>
          <a:bodyPr>
            <a:normAutofit/>
          </a:bodyPr>
          <a:lstStyle/>
          <a:p>
            <a:pPr algn="l"/>
            <a:r>
              <a:rPr lang="en-US" sz="2800" b="1" dirty="0" smtClean="0">
                <a:latin typeface="Century Gothic" panose="020B0502020202020204" pitchFamily="34" charset="0"/>
              </a:rPr>
              <a:t>SALES ANALYSIS FOR EACH PRODUCT IN 2014</a:t>
            </a:r>
            <a:endParaRPr lang="en-US" sz="2800" b="1" dirty="0">
              <a:latin typeface="Century Gothic" panose="020B0502020202020204" pitchFamily="34" charset="0"/>
            </a:endParaRPr>
          </a:p>
        </p:txBody>
      </p:sp>
      <p:sp>
        <p:nvSpPr>
          <p:cNvPr id="5" name="Subtitle 2"/>
          <p:cNvSpPr>
            <a:spLocks noGrp="1"/>
          </p:cNvSpPr>
          <p:nvPr>
            <p:ph type="subTitle" idx="1"/>
          </p:nvPr>
        </p:nvSpPr>
        <p:spPr>
          <a:xfrm>
            <a:off x="5774873" y="3570816"/>
            <a:ext cx="5998029" cy="1545433"/>
          </a:xfrm>
        </p:spPr>
        <p:txBody>
          <a:bodyPr>
            <a:noAutofit/>
          </a:bodyPr>
          <a:lstStyle/>
          <a:p>
            <a:pPr algn="just"/>
            <a:endParaRPr lang="en-US" sz="1600" dirty="0" smtClean="0">
              <a:latin typeface="Century Gothic" panose="020B0502020202020204" pitchFamily="34" charset="0"/>
            </a:endParaRPr>
          </a:p>
          <a:p>
            <a:pPr algn="just"/>
            <a:endParaRPr lang="en-US" sz="1600" dirty="0">
              <a:latin typeface="Century Gothic" panose="020B0502020202020204" pitchFamily="34" charset="0"/>
            </a:endParaRPr>
          </a:p>
        </p:txBody>
      </p:sp>
      <p:sp>
        <p:nvSpPr>
          <p:cNvPr id="6" name="Rectangle 5"/>
          <p:cNvSpPr/>
          <p:nvPr/>
        </p:nvSpPr>
        <p:spPr>
          <a:xfrm>
            <a:off x="261255" y="3881867"/>
            <a:ext cx="1643743" cy="461665"/>
          </a:xfrm>
          <a:prstGeom prst="rect">
            <a:avLst/>
          </a:prstGeom>
        </p:spPr>
        <p:txBody>
          <a:bodyPr wrap="square">
            <a:spAutoFit/>
          </a:bodyPr>
          <a:lstStyle/>
          <a:p>
            <a:pPr algn="just"/>
            <a:r>
              <a:rPr lang="en-US" sz="2400" b="1" dirty="0" smtClean="0">
                <a:latin typeface="Century Gothic" panose="020B0502020202020204" pitchFamily="34" charset="0"/>
              </a:rPr>
              <a:t>MARKERS</a:t>
            </a:r>
            <a:endParaRPr lang="en-US" sz="2400" b="1" dirty="0">
              <a:latin typeface="Century Gothic" panose="020B0502020202020204" pitchFamily="34" charset="0"/>
            </a:endParaRPr>
          </a:p>
        </p:txBody>
      </p:sp>
      <p:sp>
        <p:nvSpPr>
          <p:cNvPr id="11" name="Rectangle 10"/>
          <p:cNvSpPr/>
          <p:nvPr/>
        </p:nvSpPr>
        <p:spPr>
          <a:xfrm>
            <a:off x="152398" y="906534"/>
            <a:ext cx="1752601" cy="461665"/>
          </a:xfrm>
          <a:prstGeom prst="rect">
            <a:avLst/>
          </a:prstGeom>
        </p:spPr>
        <p:txBody>
          <a:bodyPr wrap="square">
            <a:spAutoFit/>
          </a:bodyPr>
          <a:lstStyle/>
          <a:p>
            <a:pPr algn="just"/>
            <a:r>
              <a:rPr lang="en-US" sz="2400" b="1" dirty="0" smtClean="0">
                <a:latin typeface="Century Gothic" panose="020B0502020202020204" pitchFamily="34" charset="0"/>
              </a:rPr>
              <a:t>A4 PAPER</a:t>
            </a:r>
            <a:endParaRPr lang="en-US" sz="2400" b="1" dirty="0">
              <a:latin typeface="Century Gothic" panose="020B0502020202020204" pitchFamily="34" charset="0"/>
            </a:endParaRPr>
          </a:p>
        </p:txBody>
      </p:sp>
      <p:pic>
        <p:nvPicPr>
          <p:cNvPr id="4" name="Picture 3"/>
          <p:cNvPicPr>
            <a:picLocks noChangeAspect="1"/>
          </p:cNvPicPr>
          <p:nvPr/>
        </p:nvPicPr>
        <p:blipFill>
          <a:blip r:embed="rId2"/>
          <a:stretch>
            <a:fillRect/>
          </a:stretch>
        </p:blipFill>
        <p:spPr>
          <a:xfrm>
            <a:off x="7703685" y="595483"/>
            <a:ext cx="4428445" cy="1023813"/>
          </a:xfrm>
          <a:prstGeom prst="rect">
            <a:avLst/>
          </a:prstGeom>
        </p:spPr>
      </p:pic>
      <p:pic>
        <p:nvPicPr>
          <p:cNvPr id="7" name="Picture 6"/>
          <p:cNvPicPr>
            <a:picLocks noChangeAspect="1"/>
          </p:cNvPicPr>
          <p:nvPr/>
        </p:nvPicPr>
        <p:blipFill>
          <a:blip r:embed="rId3"/>
          <a:stretch>
            <a:fillRect/>
          </a:stretch>
        </p:blipFill>
        <p:spPr>
          <a:xfrm>
            <a:off x="783771" y="1298826"/>
            <a:ext cx="6740454" cy="2246818"/>
          </a:xfrm>
          <a:prstGeom prst="rect">
            <a:avLst/>
          </a:prstGeom>
        </p:spPr>
      </p:pic>
      <p:pic>
        <p:nvPicPr>
          <p:cNvPr id="9" name="Picture 8"/>
          <p:cNvPicPr>
            <a:picLocks noChangeAspect="1"/>
          </p:cNvPicPr>
          <p:nvPr/>
        </p:nvPicPr>
        <p:blipFill>
          <a:blip r:embed="rId4"/>
          <a:stretch>
            <a:fillRect/>
          </a:stretch>
        </p:blipFill>
        <p:spPr>
          <a:xfrm>
            <a:off x="7703685" y="3325519"/>
            <a:ext cx="4428445" cy="1013082"/>
          </a:xfrm>
          <a:prstGeom prst="rect">
            <a:avLst/>
          </a:prstGeom>
        </p:spPr>
      </p:pic>
      <p:pic>
        <p:nvPicPr>
          <p:cNvPr id="10" name="Picture 9"/>
          <p:cNvPicPr>
            <a:picLocks noChangeAspect="1"/>
          </p:cNvPicPr>
          <p:nvPr/>
        </p:nvPicPr>
        <p:blipFill>
          <a:blip r:embed="rId5"/>
          <a:stretch>
            <a:fillRect/>
          </a:stretch>
        </p:blipFill>
        <p:spPr>
          <a:xfrm>
            <a:off x="783771" y="4476539"/>
            <a:ext cx="6740454" cy="2253495"/>
          </a:xfrm>
          <a:prstGeom prst="rect">
            <a:avLst/>
          </a:prstGeom>
        </p:spPr>
      </p:pic>
    </p:spTree>
    <p:extLst>
      <p:ext uri="{BB962C8B-B14F-4D97-AF65-F5344CB8AC3E}">
        <p14:creationId xmlns:p14="http://schemas.microsoft.com/office/powerpoint/2010/main" val="34743576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97975"/>
            <a:ext cx="12192000" cy="587829"/>
          </a:xfrm>
        </p:spPr>
        <p:txBody>
          <a:bodyPr>
            <a:normAutofit/>
          </a:bodyPr>
          <a:lstStyle/>
          <a:p>
            <a:pPr algn="l"/>
            <a:r>
              <a:rPr lang="en-US" sz="2800" b="1" dirty="0" smtClean="0">
                <a:latin typeface="Century Gothic" panose="020B0502020202020204" pitchFamily="34" charset="0"/>
              </a:rPr>
              <a:t>SALES ANALYSIS FOR EACH PRODUCT IN 2014</a:t>
            </a:r>
            <a:endParaRPr lang="en-US" sz="2800" b="1" dirty="0">
              <a:latin typeface="Century Gothic" panose="020B0502020202020204" pitchFamily="34" charset="0"/>
            </a:endParaRPr>
          </a:p>
        </p:txBody>
      </p:sp>
      <p:sp>
        <p:nvSpPr>
          <p:cNvPr id="6" name="Rectangle 5"/>
          <p:cNvSpPr/>
          <p:nvPr/>
        </p:nvSpPr>
        <p:spPr>
          <a:xfrm>
            <a:off x="261255" y="3881867"/>
            <a:ext cx="1643743" cy="461665"/>
          </a:xfrm>
          <a:prstGeom prst="rect">
            <a:avLst/>
          </a:prstGeom>
        </p:spPr>
        <p:txBody>
          <a:bodyPr wrap="square">
            <a:spAutoFit/>
          </a:bodyPr>
          <a:lstStyle/>
          <a:p>
            <a:pPr algn="just"/>
            <a:r>
              <a:rPr lang="en-US" sz="2400" b="1" dirty="0" smtClean="0">
                <a:latin typeface="Century Gothic" panose="020B0502020202020204" pitchFamily="34" charset="0"/>
              </a:rPr>
              <a:t>STAPLER</a:t>
            </a:r>
            <a:endParaRPr lang="en-US" sz="2400" b="1" dirty="0">
              <a:latin typeface="Century Gothic" panose="020B0502020202020204" pitchFamily="34" charset="0"/>
            </a:endParaRPr>
          </a:p>
        </p:txBody>
      </p:sp>
      <p:sp>
        <p:nvSpPr>
          <p:cNvPr id="11" name="Rectangle 10"/>
          <p:cNvSpPr/>
          <p:nvPr/>
        </p:nvSpPr>
        <p:spPr>
          <a:xfrm>
            <a:off x="152398" y="906534"/>
            <a:ext cx="1752601" cy="461665"/>
          </a:xfrm>
          <a:prstGeom prst="rect">
            <a:avLst/>
          </a:prstGeom>
        </p:spPr>
        <p:txBody>
          <a:bodyPr wrap="square">
            <a:spAutoFit/>
          </a:bodyPr>
          <a:lstStyle/>
          <a:p>
            <a:pPr algn="just"/>
            <a:r>
              <a:rPr lang="en-US" sz="2400" b="1" dirty="0" smtClean="0">
                <a:latin typeface="Century Gothic" panose="020B0502020202020204" pitchFamily="34" charset="0"/>
              </a:rPr>
              <a:t>NOTEPAD</a:t>
            </a:r>
            <a:endParaRPr lang="en-US" sz="2400" b="1" dirty="0">
              <a:latin typeface="Century Gothic" panose="020B0502020202020204" pitchFamily="34" charset="0"/>
            </a:endParaRPr>
          </a:p>
        </p:txBody>
      </p:sp>
      <p:pic>
        <p:nvPicPr>
          <p:cNvPr id="3" name="Picture 2"/>
          <p:cNvPicPr>
            <a:picLocks noChangeAspect="1"/>
          </p:cNvPicPr>
          <p:nvPr/>
        </p:nvPicPr>
        <p:blipFill>
          <a:blip r:embed="rId2"/>
          <a:stretch>
            <a:fillRect/>
          </a:stretch>
        </p:blipFill>
        <p:spPr>
          <a:xfrm>
            <a:off x="7703684" y="596897"/>
            <a:ext cx="4488315" cy="1114837"/>
          </a:xfrm>
          <a:prstGeom prst="rect">
            <a:avLst/>
          </a:prstGeom>
        </p:spPr>
      </p:pic>
      <p:pic>
        <p:nvPicPr>
          <p:cNvPr id="8" name="Picture 7"/>
          <p:cNvPicPr>
            <a:picLocks noChangeAspect="1"/>
          </p:cNvPicPr>
          <p:nvPr/>
        </p:nvPicPr>
        <p:blipFill>
          <a:blip r:embed="rId3"/>
          <a:stretch>
            <a:fillRect/>
          </a:stretch>
        </p:blipFill>
        <p:spPr>
          <a:xfrm>
            <a:off x="193919" y="1264399"/>
            <a:ext cx="7404314" cy="2338772"/>
          </a:xfrm>
          <a:prstGeom prst="rect">
            <a:avLst/>
          </a:prstGeom>
        </p:spPr>
      </p:pic>
      <p:pic>
        <p:nvPicPr>
          <p:cNvPr id="13" name="Picture 12"/>
          <p:cNvPicPr>
            <a:picLocks noChangeAspect="1"/>
          </p:cNvPicPr>
          <p:nvPr/>
        </p:nvPicPr>
        <p:blipFill>
          <a:blip r:embed="rId4"/>
          <a:stretch>
            <a:fillRect/>
          </a:stretch>
        </p:blipFill>
        <p:spPr>
          <a:xfrm>
            <a:off x="7703684" y="3233711"/>
            <a:ext cx="4488315" cy="1032927"/>
          </a:xfrm>
          <a:prstGeom prst="rect">
            <a:avLst/>
          </a:prstGeom>
        </p:spPr>
      </p:pic>
      <p:pic>
        <p:nvPicPr>
          <p:cNvPr id="14" name="Picture 13"/>
          <p:cNvPicPr>
            <a:picLocks noChangeAspect="1"/>
          </p:cNvPicPr>
          <p:nvPr/>
        </p:nvPicPr>
        <p:blipFill>
          <a:blip r:embed="rId5"/>
          <a:stretch>
            <a:fillRect/>
          </a:stretch>
        </p:blipFill>
        <p:spPr>
          <a:xfrm>
            <a:off x="353780" y="4266638"/>
            <a:ext cx="7592788" cy="2277836"/>
          </a:xfrm>
          <a:prstGeom prst="rect">
            <a:avLst/>
          </a:prstGeom>
        </p:spPr>
      </p:pic>
    </p:spTree>
    <p:extLst>
      <p:ext uri="{BB962C8B-B14F-4D97-AF65-F5344CB8AC3E}">
        <p14:creationId xmlns:p14="http://schemas.microsoft.com/office/powerpoint/2010/main" val="22256918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87089"/>
            <a:ext cx="12192000" cy="587829"/>
          </a:xfrm>
        </p:spPr>
        <p:txBody>
          <a:bodyPr>
            <a:normAutofit/>
          </a:bodyPr>
          <a:lstStyle/>
          <a:p>
            <a:pPr algn="l"/>
            <a:r>
              <a:rPr lang="en-US" sz="2800" b="1" dirty="0" smtClean="0">
                <a:latin typeface="Century Gothic" panose="020B0502020202020204" pitchFamily="34" charset="0"/>
              </a:rPr>
              <a:t>2013 Q4 VS 2014 Q4</a:t>
            </a:r>
            <a:endParaRPr lang="en-US" sz="2800" b="1" dirty="0">
              <a:latin typeface="Century Gothic" panose="020B0502020202020204" pitchFamily="34" charset="0"/>
            </a:endParaRPr>
          </a:p>
        </p:txBody>
      </p:sp>
      <p:sp>
        <p:nvSpPr>
          <p:cNvPr id="11" name="Rectangle 10"/>
          <p:cNvSpPr/>
          <p:nvPr/>
        </p:nvSpPr>
        <p:spPr>
          <a:xfrm>
            <a:off x="-54427" y="1302884"/>
            <a:ext cx="4713514" cy="461665"/>
          </a:xfrm>
          <a:prstGeom prst="rect">
            <a:avLst/>
          </a:prstGeom>
        </p:spPr>
        <p:txBody>
          <a:bodyPr wrap="square">
            <a:spAutoFit/>
          </a:bodyPr>
          <a:lstStyle/>
          <a:p>
            <a:pPr algn="just"/>
            <a:r>
              <a:rPr lang="en-US" sz="2400" b="1" dirty="0" smtClean="0">
                <a:latin typeface="Century Gothic" panose="020B0502020202020204" pitchFamily="34" charset="0"/>
              </a:rPr>
              <a:t>2013 Q4 FINANCIAL POSITION</a:t>
            </a:r>
            <a:endParaRPr lang="en-US" sz="2400" b="1" dirty="0">
              <a:latin typeface="Century Gothic" panose="020B0502020202020204" pitchFamily="34" charset="0"/>
            </a:endParaRPr>
          </a:p>
        </p:txBody>
      </p:sp>
      <p:sp>
        <p:nvSpPr>
          <p:cNvPr id="9" name="Rectangle 8"/>
          <p:cNvSpPr/>
          <p:nvPr/>
        </p:nvSpPr>
        <p:spPr>
          <a:xfrm>
            <a:off x="7434943" y="1302884"/>
            <a:ext cx="4757057" cy="461665"/>
          </a:xfrm>
          <a:prstGeom prst="rect">
            <a:avLst/>
          </a:prstGeom>
        </p:spPr>
        <p:txBody>
          <a:bodyPr wrap="square">
            <a:spAutoFit/>
          </a:bodyPr>
          <a:lstStyle/>
          <a:p>
            <a:pPr algn="just"/>
            <a:r>
              <a:rPr lang="en-US" sz="2400" b="1" dirty="0" smtClean="0">
                <a:latin typeface="Century Gothic" panose="020B0502020202020204" pitchFamily="34" charset="0"/>
              </a:rPr>
              <a:t>2014 Q4 FINANCIAL POSITION</a:t>
            </a:r>
            <a:endParaRPr lang="en-US" sz="2400" b="1" dirty="0">
              <a:latin typeface="Century Gothic" panose="020B0502020202020204" pitchFamily="34" charset="0"/>
            </a:endParaRPr>
          </a:p>
        </p:txBody>
      </p:sp>
      <p:pic>
        <p:nvPicPr>
          <p:cNvPr id="4" name="Picture 3"/>
          <p:cNvPicPr>
            <a:picLocks noChangeAspect="1"/>
          </p:cNvPicPr>
          <p:nvPr/>
        </p:nvPicPr>
        <p:blipFill>
          <a:blip r:embed="rId2"/>
          <a:stretch>
            <a:fillRect/>
          </a:stretch>
        </p:blipFill>
        <p:spPr>
          <a:xfrm>
            <a:off x="8539425" y="0"/>
            <a:ext cx="3652575" cy="849086"/>
          </a:xfrm>
          <a:prstGeom prst="rect">
            <a:avLst/>
          </a:prstGeom>
        </p:spPr>
      </p:pic>
      <p:sp>
        <p:nvSpPr>
          <p:cNvPr id="12" name="Rectangle 11"/>
          <p:cNvSpPr/>
          <p:nvPr/>
        </p:nvSpPr>
        <p:spPr>
          <a:xfrm>
            <a:off x="5943600" y="568154"/>
            <a:ext cx="2743200" cy="338554"/>
          </a:xfrm>
          <a:prstGeom prst="rect">
            <a:avLst/>
          </a:prstGeom>
        </p:spPr>
        <p:txBody>
          <a:bodyPr wrap="square">
            <a:spAutoFit/>
          </a:bodyPr>
          <a:lstStyle/>
          <a:p>
            <a:pPr algn="just"/>
            <a:r>
              <a:rPr lang="en-US" sz="1600" b="1" dirty="0" smtClean="0">
                <a:latin typeface="Century Gothic" panose="020B0502020202020204" pitchFamily="34" charset="0"/>
              </a:rPr>
              <a:t>Overall Financial Position</a:t>
            </a:r>
            <a:endParaRPr lang="en-US" sz="1600" b="1" dirty="0">
              <a:latin typeface="Century Gothic" panose="020B0502020202020204" pitchFamily="34" charset="0"/>
            </a:endParaRPr>
          </a:p>
        </p:txBody>
      </p:sp>
      <p:pic>
        <p:nvPicPr>
          <p:cNvPr id="5" name="Picture 4"/>
          <p:cNvPicPr>
            <a:picLocks noChangeAspect="1"/>
          </p:cNvPicPr>
          <p:nvPr/>
        </p:nvPicPr>
        <p:blipFill>
          <a:blip r:embed="rId3"/>
          <a:stretch>
            <a:fillRect/>
          </a:stretch>
        </p:blipFill>
        <p:spPr>
          <a:xfrm>
            <a:off x="7271656" y="1764549"/>
            <a:ext cx="4872276" cy="1136196"/>
          </a:xfrm>
          <a:prstGeom prst="rect">
            <a:avLst/>
          </a:prstGeom>
        </p:spPr>
      </p:pic>
      <p:pic>
        <p:nvPicPr>
          <p:cNvPr id="7" name="Picture 6"/>
          <p:cNvPicPr>
            <a:picLocks noChangeAspect="1"/>
          </p:cNvPicPr>
          <p:nvPr/>
        </p:nvPicPr>
        <p:blipFill>
          <a:blip r:embed="rId4"/>
          <a:stretch>
            <a:fillRect/>
          </a:stretch>
        </p:blipFill>
        <p:spPr>
          <a:xfrm>
            <a:off x="43544" y="1764549"/>
            <a:ext cx="4735286" cy="1086254"/>
          </a:xfrm>
          <a:prstGeom prst="rect">
            <a:avLst/>
          </a:prstGeom>
        </p:spPr>
      </p:pic>
      <p:pic>
        <p:nvPicPr>
          <p:cNvPr id="10" name="Picture 9"/>
          <p:cNvPicPr>
            <a:picLocks noChangeAspect="1"/>
          </p:cNvPicPr>
          <p:nvPr/>
        </p:nvPicPr>
        <p:blipFill>
          <a:blip r:embed="rId5"/>
          <a:stretch>
            <a:fillRect/>
          </a:stretch>
        </p:blipFill>
        <p:spPr>
          <a:xfrm>
            <a:off x="295275" y="3236267"/>
            <a:ext cx="4122581" cy="2598475"/>
          </a:xfrm>
          <a:prstGeom prst="rect">
            <a:avLst/>
          </a:prstGeom>
        </p:spPr>
      </p:pic>
      <p:pic>
        <p:nvPicPr>
          <p:cNvPr id="15" name="Picture 14"/>
          <p:cNvPicPr>
            <a:picLocks noChangeAspect="1"/>
          </p:cNvPicPr>
          <p:nvPr/>
        </p:nvPicPr>
        <p:blipFill>
          <a:blip r:embed="rId6"/>
          <a:stretch>
            <a:fillRect/>
          </a:stretch>
        </p:blipFill>
        <p:spPr>
          <a:xfrm>
            <a:off x="7762194" y="3236267"/>
            <a:ext cx="4048805" cy="2670488"/>
          </a:xfrm>
          <a:prstGeom prst="rect">
            <a:avLst/>
          </a:prstGeom>
        </p:spPr>
      </p:pic>
    </p:spTree>
    <p:extLst>
      <p:ext uri="{BB962C8B-B14F-4D97-AF65-F5344CB8AC3E}">
        <p14:creationId xmlns:p14="http://schemas.microsoft.com/office/powerpoint/2010/main" val="7705286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4016829" cy="587829"/>
          </a:xfrm>
        </p:spPr>
        <p:txBody>
          <a:bodyPr>
            <a:normAutofit/>
          </a:bodyPr>
          <a:lstStyle/>
          <a:p>
            <a:pPr algn="l"/>
            <a:r>
              <a:rPr lang="en-US" sz="2800" b="1" dirty="0" smtClean="0">
                <a:latin typeface="Century Gothic" panose="020B0502020202020204" pitchFamily="34" charset="0"/>
              </a:rPr>
              <a:t>2013 Q4 VS 2014 Q4</a:t>
            </a:r>
            <a:endParaRPr lang="en-US" sz="2800" b="1" dirty="0">
              <a:latin typeface="Century Gothic" panose="020B0502020202020204" pitchFamily="34" charset="0"/>
            </a:endParaRPr>
          </a:p>
        </p:txBody>
      </p:sp>
      <p:pic>
        <p:nvPicPr>
          <p:cNvPr id="3" name="Picture 2"/>
          <p:cNvPicPr>
            <a:picLocks noChangeAspect="1"/>
          </p:cNvPicPr>
          <p:nvPr/>
        </p:nvPicPr>
        <p:blipFill>
          <a:blip r:embed="rId2"/>
          <a:stretch>
            <a:fillRect/>
          </a:stretch>
        </p:blipFill>
        <p:spPr>
          <a:xfrm>
            <a:off x="108860" y="906708"/>
            <a:ext cx="4366652" cy="2269672"/>
          </a:xfrm>
          <a:prstGeom prst="rect">
            <a:avLst/>
          </a:prstGeom>
        </p:spPr>
      </p:pic>
      <p:sp>
        <p:nvSpPr>
          <p:cNvPr id="6" name="Rectangle 5"/>
          <p:cNvSpPr/>
          <p:nvPr/>
        </p:nvSpPr>
        <p:spPr>
          <a:xfrm>
            <a:off x="5040086" y="1035708"/>
            <a:ext cx="6096000" cy="1754326"/>
          </a:xfrm>
          <a:prstGeom prst="rect">
            <a:avLst/>
          </a:prstGeom>
        </p:spPr>
        <p:txBody>
          <a:bodyPr>
            <a:spAutoFit/>
          </a:bodyPr>
          <a:lstStyle/>
          <a:p>
            <a:pPr algn="just"/>
            <a:r>
              <a:rPr lang="en-US" dirty="0"/>
              <a:t>Comparing both 2013 and 2014 QA performances, in terms of revenue, </a:t>
            </a:r>
            <a:r>
              <a:rPr lang="en-US" b="1" dirty="0"/>
              <a:t>“A4 </a:t>
            </a:r>
            <a:r>
              <a:rPr lang="en-US" b="1" dirty="0" smtClean="0"/>
              <a:t>paper”</a:t>
            </a:r>
            <a:r>
              <a:rPr lang="en-US" dirty="0" smtClean="0"/>
              <a:t>,</a:t>
            </a:r>
            <a:r>
              <a:rPr lang="en-US" b="1" dirty="0" smtClean="0"/>
              <a:t> </a:t>
            </a:r>
            <a:r>
              <a:rPr lang="en-US" dirty="0"/>
              <a:t>and </a:t>
            </a:r>
            <a:r>
              <a:rPr lang="en-US" b="1" dirty="0"/>
              <a:t>“Biro” </a:t>
            </a:r>
            <a:r>
              <a:rPr lang="en-US" dirty="0"/>
              <a:t>accounted for the majority of the increase among products </a:t>
            </a:r>
            <a:r>
              <a:rPr lang="en-US" dirty="0" smtClean="0"/>
              <a:t>with a percentage increase of </a:t>
            </a:r>
            <a:r>
              <a:rPr lang="en-US" b="1" dirty="0" smtClean="0"/>
              <a:t>524% </a:t>
            </a:r>
            <a:r>
              <a:rPr lang="en-US" dirty="0" smtClean="0"/>
              <a:t>and </a:t>
            </a:r>
            <a:r>
              <a:rPr lang="en-US" b="1" dirty="0" smtClean="0"/>
              <a:t>89% </a:t>
            </a:r>
            <a:r>
              <a:rPr lang="en-US" dirty="0" smtClean="0"/>
              <a:t>respectively, while </a:t>
            </a:r>
            <a:r>
              <a:rPr lang="en-US" b="1" dirty="0"/>
              <a:t>“Stapler” </a:t>
            </a:r>
            <a:r>
              <a:rPr lang="en-US" dirty="0"/>
              <a:t>and </a:t>
            </a:r>
            <a:r>
              <a:rPr lang="en-US" b="1" dirty="0"/>
              <a:t>“Markers” </a:t>
            </a:r>
            <a:r>
              <a:rPr lang="en-US" dirty="0"/>
              <a:t>experienced a decrease in sales. The relative contribution made by “A4 paper”, “Biro” and “Markers” changed the most.</a:t>
            </a:r>
          </a:p>
        </p:txBody>
      </p:sp>
      <p:pic>
        <p:nvPicPr>
          <p:cNvPr id="8" name="Picture 7"/>
          <p:cNvPicPr>
            <a:picLocks noChangeAspect="1"/>
          </p:cNvPicPr>
          <p:nvPr/>
        </p:nvPicPr>
        <p:blipFill>
          <a:blip r:embed="rId3"/>
          <a:stretch>
            <a:fillRect/>
          </a:stretch>
        </p:blipFill>
        <p:spPr>
          <a:xfrm>
            <a:off x="127346" y="3617252"/>
            <a:ext cx="4315506" cy="2269672"/>
          </a:xfrm>
          <a:prstGeom prst="rect">
            <a:avLst/>
          </a:prstGeom>
        </p:spPr>
      </p:pic>
      <p:sp>
        <p:nvSpPr>
          <p:cNvPr id="13" name="Rectangle 12"/>
          <p:cNvSpPr/>
          <p:nvPr/>
        </p:nvSpPr>
        <p:spPr>
          <a:xfrm>
            <a:off x="5040086" y="3894072"/>
            <a:ext cx="6096000" cy="923330"/>
          </a:xfrm>
          <a:prstGeom prst="rect">
            <a:avLst/>
          </a:prstGeom>
        </p:spPr>
        <p:txBody>
          <a:bodyPr>
            <a:spAutoFit/>
          </a:bodyPr>
          <a:lstStyle/>
          <a:p>
            <a:pPr algn="just"/>
            <a:r>
              <a:rPr lang="en-US" dirty="0"/>
              <a:t>In terms of State performances, </a:t>
            </a:r>
            <a:r>
              <a:rPr lang="en-US" b="1" dirty="0"/>
              <a:t>“Lagos State”</a:t>
            </a:r>
            <a:r>
              <a:rPr lang="en-US" dirty="0"/>
              <a:t>, </a:t>
            </a:r>
            <a:r>
              <a:rPr lang="en-US" b="1" dirty="0"/>
              <a:t>“Ogun State” </a:t>
            </a:r>
            <a:r>
              <a:rPr lang="en-US" dirty="0"/>
              <a:t>and </a:t>
            </a:r>
            <a:r>
              <a:rPr lang="en-US" b="1" dirty="0"/>
              <a:t>“Osun State” </a:t>
            </a:r>
            <a:r>
              <a:rPr lang="en-US" dirty="0"/>
              <a:t>accounted for the majority of the increase amongst the states</a:t>
            </a:r>
            <a:r>
              <a:rPr lang="en-US" dirty="0" smtClean="0"/>
              <a:t>. </a:t>
            </a:r>
            <a:endParaRPr lang="en-US" dirty="0"/>
          </a:p>
        </p:txBody>
      </p:sp>
    </p:spTree>
    <p:extLst>
      <p:ext uri="{BB962C8B-B14F-4D97-AF65-F5344CB8AC3E}">
        <p14:creationId xmlns:p14="http://schemas.microsoft.com/office/powerpoint/2010/main" val="39309492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4016829" cy="587829"/>
          </a:xfrm>
        </p:spPr>
        <p:txBody>
          <a:bodyPr>
            <a:normAutofit/>
          </a:bodyPr>
          <a:lstStyle/>
          <a:p>
            <a:pPr algn="l"/>
            <a:r>
              <a:rPr lang="en-US" sz="2800" b="1" dirty="0" smtClean="0">
                <a:latin typeface="Century Gothic" panose="020B0502020202020204" pitchFamily="34" charset="0"/>
              </a:rPr>
              <a:t>2013 Q4 VS 2014 Q4</a:t>
            </a:r>
            <a:endParaRPr lang="en-US" sz="2800" b="1" dirty="0">
              <a:latin typeface="Century Gothic" panose="020B0502020202020204" pitchFamily="34" charset="0"/>
            </a:endParaRPr>
          </a:p>
        </p:txBody>
      </p:sp>
      <p:sp>
        <p:nvSpPr>
          <p:cNvPr id="6" name="Rectangle 5"/>
          <p:cNvSpPr/>
          <p:nvPr/>
        </p:nvSpPr>
        <p:spPr>
          <a:xfrm>
            <a:off x="5040086" y="1157016"/>
            <a:ext cx="6096000" cy="1477328"/>
          </a:xfrm>
          <a:prstGeom prst="rect">
            <a:avLst/>
          </a:prstGeom>
        </p:spPr>
        <p:txBody>
          <a:bodyPr>
            <a:spAutoFit/>
          </a:bodyPr>
          <a:lstStyle/>
          <a:p>
            <a:pPr algn="just"/>
            <a:r>
              <a:rPr lang="en-US" dirty="0"/>
              <a:t>Looking at PAT recorded by each products, </a:t>
            </a:r>
            <a:r>
              <a:rPr lang="en-US" b="1" dirty="0"/>
              <a:t>“A4 paper, “Biro” </a:t>
            </a:r>
            <a:r>
              <a:rPr lang="en-US" dirty="0"/>
              <a:t>and</a:t>
            </a:r>
            <a:r>
              <a:rPr lang="en-US" b="1" dirty="0"/>
              <a:t> “Pencil”</a:t>
            </a:r>
            <a:r>
              <a:rPr lang="en-US" dirty="0"/>
              <a:t> experience a positive growth between both periods while </a:t>
            </a:r>
            <a:r>
              <a:rPr lang="en-US" b="1" dirty="0"/>
              <a:t>“Stapler”, “Notepad” </a:t>
            </a:r>
            <a:r>
              <a:rPr lang="en-US" dirty="0"/>
              <a:t>and </a:t>
            </a:r>
            <a:r>
              <a:rPr lang="en-US" b="1" dirty="0"/>
              <a:t>“Markers” </a:t>
            </a:r>
            <a:r>
              <a:rPr lang="en-US" dirty="0"/>
              <a:t>had a negative PAT which can be majorly attributed to </a:t>
            </a:r>
            <a:r>
              <a:rPr lang="en-US" dirty="0" smtClean="0"/>
              <a:t>high </a:t>
            </a:r>
            <a:r>
              <a:rPr lang="en-US" dirty="0"/>
              <a:t>cost of </a:t>
            </a:r>
            <a:r>
              <a:rPr lang="en-US" dirty="0" smtClean="0"/>
              <a:t>production.</a:t>
            </a:r>
            <a:endParaRPr lang="en-US" dirty="0"/>
          </a:p>
        </p:txBody>
      </p:sp>
      <p:sp>
        <p:nvSpPr>
          <p:cNvPr id="13" name="Rectangle 12"/>
          <p:cNvSpPr/>
          <p:nvPr/>
        </p:nvSpPr>
        <p:spPr>
          <a:xfrm>
            <a:off x="5040086" y="3760063"/>
            <a:ext cx="6096000" cy="923330"/>
          </a:xfrm>
          <a:prstGeom prst="rect">
            <a:avLst/>
          </a:prstGeom>
        </p:spPr>
        <p:txBody>
          <a:bodyPr>
            <a:spAutoFit/>
          </a:bodyPr>
          <a:lstStyle/>
          <a:p>
            <a:pPr algn="just"/>
            <a:r>
              <a:rPr lang="en-US" dirty="0"/>
              <a:t>Each customer segment experienced a positive increase. “</a:t>
            </a:r>
            <a:r>
              <a:rPr lang="en-US" b="1" dirty="0"/>
              <a:t>Small Business”, “Government”</a:t>
            </a:r>
            <a:r>
              <a:rPr lang="en-US" dirty="0"/>
              <a:t> and </a:t>
            </a:r>
            <a:r>
              <a:rPr lang="en-US" b="1" dirty="0"/>
              <a:t>“Enterprise”</a:t>
            </a:r>
            <a:r>
              <a:rPr lang="en-US" dirty="0"/>
              <a:t> accounted for the majority of the increase. </a:t>
            </a:r>
          </a:p>
        </p:txBody>
      </p:sp>
      <p:pic>
        <p:nvPicPr>
          <p:cNvPr id="4" name="Picture 3"/>
          <p:cNvPicPr>
            <a:picLocks noChangeAspect="1"/>
          </p:cNvPicPr>
          <p:nvPr/>
        </p:nvPicPr>
        <p:blipFill>
          <a:blip r:embed="rId2"/>
          <a:stretch>
            <a:fillRect/>
          </a:stretch>
        </p:blipFill>
        <p:spPr>
          <a:xfrm>
            <a:off x="76200" y="1035708"/>
            <a:ext cx="4366652" cy="2276475"/>
          </a:xfrm>
          <a:prstGeom prst="rect">
            <a:avLst/>
          </a:prstGeom>
        </p:spPr>
      </p:pic>
      <p:pic>
        <p:nvPicPr>
          <p:cNvPr id="5" name="Picture 4"/>
          <p:cNvPicPr>
            <a:picLocks noChangeAspect="1"/>
          </p:cNvPicPr>
          <p:nvPr/>
        </p:nvPicPr>
        <p:blipFill>
          <a:blip r:embed="rId3"/>
          <a:stretch>
            <a:fillRect/>
          </a:stretch>
        </p:blipFill>
        <p:spPr>
          <a:xfrm>
            <a:off x="76200" y="3760063"/>
            <a:ext cx="4366652" cy="2266950"/>
          </a:xfrm>
          <a:prstGeom prst="rect">
            <a:avLst/>
          </a:prstGeom>
        </p:spPr>
      </p:pic>
    </p:spTree>
    <p:extLst>
      <p:ext uri="{BB962C8B-B14F-4D97-AF65-F5344CB8AC3E}">
        <p14:creationId xmlns:p14="http://schemas.microsoft.com/office/powerpoint/2010/main" val="19187636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4016829" cy="587829"/>
          </a:xfrm>
        </p:spPr>
        <p:txBody>
          <a:bodyPr>
            <a:normAutofit/>
          </a:bodyPr>
          <a:lstStyle/>
          <a:p>
            <a:pPr algn="l"/>
            <a:r>
              <a:rPr lang="en-US" sz="2800" b="1" dirty="0" smtClean="0">
                <a:latin typeface="Century Gothic" panose="020B0502020202020204" pitchFamily="34" charset="0"/>
              </a:rPr>
              <a:t>2013 Q4 VS 2014 Q4</a:t>
            </a:r>
            <a:endParaRPr lang="en-US" sz="2800" b="1" dirty="0">
              <a:latin typeface="Century Gothic" panose="020B0502020202020204" pitchFamily="34" charset="0"/>
            </a:endParaRPr>
          </a:p>
        </p:txBody>
      </p:sp>
      <p:sp>
        <p:nvSpPr>
          <p:cNvPr id="6" name="Rectangle 5"/>
          <p:cNvSpPr/>
          <p:nvPr/>
        </p:nvSpPr>
        <p:spPr>
          <a:xfrm>
            <a:off x="5040086" y="1157016"/>
            <a:ext cx="6096000" cy="923330"/>
          </a:xfrm>
          <a:prstGeom prst="rect">
            <a:avLst/>
          </a:prstGeom>
        </p:spPr>
        <p:txBody>
          <a:bodyPr>
            <a:spAutoFit/>
          </a:bodyPr>
          <a:lstStyle/>
          <a:p>
            <a:pPr algn="just"/>
            <a:r>
              <a:rPr lang="en-US" dirty="0"/>
              <a:t>In terms of </a:t>
            </a:r>
            <a:r>
              <a:rPr lang="en-US" dirty="0" smtClean="0"/>
              <a:t>revenue generated by each discount band, </a:t>
            </a:r>
            <a:r>
              <a:rPr lang="en-US" b="1" dirty="0" smtClean="0"/>
              <a:t>“Low band” </a:t>
            </a:r>
            <a:r>
              <a:rPr lang="en-US" dirty="0" smtClean="0"/>
              <a:t>accounted </a:t>
            </a:r>
            <a:r>
              <a:rPr lang="en-US" dirty="0"/>
              <a:t>for the majority of the increase amongst the </a:t>
            </a:r>
            <a:r>
              <a:rPr lang="en-US" dirty="0" smtClean="0"/>
              <a:t>bands with </a:t>
            </a:r>
            <a:r>
              <a:rPr lang="en-US" b="1" dirty="0" smtClean="0"/>
              <a:t>165%</a:t>
            </a:r>
            <a:r>
              <a:rPr lang="en-US" dirty="0" smtClean="0"/>
              <a:t> percentage increase. </a:t>
            </a:r>
            <a:endParaRPr lang="en-US" dirty="0"/>
          </a:p>
        </p:txBody>
      </p:sp>
      <p:pic>
        <p:nvPicPr>
          <p:cNvPr id="3" name="Picture 2"/>
          <p:cNvPicPr>
            <a:picLocks noChangeAspect="1"/>
          </p:cNvPicPr>
          <p:nvPr/>
        </p:nvPicPr>
        <p:blipFill>
          <a:blip r:embed="rId2"/>
          <a:stretch>
            <a:fillRect/>
          </a:stretch>
        </p:blipFill>
        <p:spPr>
          <a:xfrm>
            <a:off x="113560" y="1157016"/>
            <a:ext cx="4366652" cy="2276475"/>
          </a:xfrm>
          <a:prstGeom prst="rect">
            <a:avLst/>
          </a:prstGeom>
        </p:spPr>
      </p:pic>
    </p:spTree>
    <p:extLst>
      <p:ext uri="{BB962C8B-B14F-4D97-AF65-F5344CB8AC3E}">
        <p14:creationId xmlns:p14="http://schemas.microsoft.com/office/powerpoint/2010/main" val="6393284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4016829" cy="587829"/>
          </a:xfrm>
        </p:spPr>
        <p:txBody>
          <a:bodyPr>
            <a:normAutofit/>
          </a:bodyPr>
          <a:lstStyle/>
          <a:p>
            <a:pPr algn="l"/>
            <a:r>
              <a:rPr lang="en-US" sz="2800" b="1" dirty="0" smtClean="0">
                <a:latin typeface="Century Gothic" panose="020B0502020202020204" pitchFamily="34" charset="0"/>
              </a:rPr>
              <a:t>TAX ANALYSIS</a:t>
            </a:r>
            <a:endParaRPr lang="en-US" sz="2800" b="1" dirty="0">
              <a:latin typeface="Century Gothic" panose="020B0502020202020204" pitchFamily="34" charset="0"/>
            </a:endParaRPr>
          </a:p>
        </p:txBody>
      </p:sp>
      <p:sp>
        <p:nvSpPr>
          <p:cNvPr id="6" name="Rectangle 5"/>
          <p:cNvSpPr/>
          <p:nvPr/>
        </p:nvSpPr>
        <p:spPr>
          <a:xfrm>
            <a:off x="4133513" y="925285"/>
            <a:ext cx="3061945" cy="1477328"/>
          </a:xfrm>
          <a:prstGeom prst="rect">
            <a:avLst/>
          </a:prstGeom>
        </p:spPr>
        <p:txBody>
          <a:bodyPr wrap="square">
            <a:spAutoFit/>
          </a:bodyPr>
          <a:lstStyle/>
          <a:p>
            <a:pPr algn="just"/>
            <a:r>
              <a:rPr lang="en-US" dirty="0"/>
              <a:t>In terms of tax, overall tax </a:t>
            </a:r>
            <a:r>
              <a:rPr lang="en-US" dirty="0" smtClean="0"/>
              <a:t>was </a:t>
            </a:r>
            <a:r>
              <a:rPr lang="en-US" dirty="0"/>
              <a:t>being paid more on </a:t>
            </a:r>
            <a:r>
              <a:rPr lang="en-US" b="1" dirty="0"/>
              <a:t>“</a:t>
            </a:r>
            <a:r>
              <a:rPr lang="en-US" b="1" dirty="0" smtClean="0"/>
              <a:t>Biro”</a:t>
            </a:r>
            <a:r>
              <a:rPr lang="en-US" dirty="0" smtClean="0"/>
              <a:t>, </a:t>
            </a:r>
            <a:r>
              <a:rPr lang="en-US" dirty="0"/>
              <a:t>because they generate the highest revenue for the company.</a:t>
            </a:r>
          </a:p>
        </p:txBody>
      </p:sp>
      <p:pic>
        <p:nvPicPr>
          <p:cNvPr id="4" name="Picture 3"/>
          <p:cNvPicPr>
            <a:picLocks noChangeAspect="1"/>
          </p:cNvPicPr>
          <p:nvPr/>
        </p:nvPicPr>
        <p:blipFill>
          <a:blip r:embed="rId2"/>
          <a:stretch>
            <a:fillRect/>
          </a:stretch>
        </p:blipFill>
        <p:spPr>
          <a:xfrm>
            <a:off x="123146" y="674914"/>
            <a:ext cx="3852462" cy="2496911"/>
          </a:xfrm>
          <a:prstGeom prst="rect">
            <a:avLst/>
          </a:prstGeom>
        </p:spPr>
      </p:pic>
      <p:pic>
        <p:nvPicPr>
          <p:cNvPr id="5" name="Picture 4"/>
          <p:cNvPicPr>
            <a:picLocks noChangeAspect="1"/>
          </p:cNvPicPr>
          <p:nvPr/>
        </p:nvPicPr>
        <p:blipFill>
          <a:blip r:embed="rId3"/>
          <a:stretch>
            <a:fillRect/>
          </a:stretch>
        </p:blipFill>
        <p:spPr>
          <a:xfrm>
            <a:off x="-14310" y="3716110"/>
            <a:ext cx="4147823" cy="2673803"/>
          </a:xfrm>
          <a:prstGeom prst="rect">
            <a:avLst/>
          </a:prstGeom>
        </p:spPr>
      </p:pic>
      <p:sp>
        <p:nvSpPr>
          <p:cNvPr id="7" name="Rectangle 6"/>
          <p:cNvSpPr/>
          <p:nvPr/>
        </p:nvSpPr>
        <p:spPr>
          <a:xfrm>
            <a:off x="4479928" y="4880883"/>
            <a:ext cx="2715530" cy="1200329"/>
          </a:xfrm>
          <a:prstGeom prst="rect">
            <a:avLst/>
          </a:prstGeom>
        </p:spPr>
        <p:txBody>
          <a:bodyPr wrap="square">
            <a:spAutoFit/>
          </a:bodyPr>
          <a:lstStyle/>
          <a:p>
            <a:r>
              <a:rPr lang="en-US" dirty="0"/>
              <a:t>On the state level, more tax </a:t>
            </a:r>
            <a:r>
              <a:rPr lang="en-US" dirty="0" smtClean="0"/>
              <a:t>was </a:t>
            </a:r>
            <a:r>
              <a:rPr lang="en-US" dirty="0"/>
              <a:t>being paid by </a:t>
            </a:r>
            <a:r>
              <a:rPr lang="en-US" b="1" dirty="0"/>
              <a:t>“Osun State</a:t>
            </a:r>
            <a:r>
              <a:rPr lang="en-US" b="1" dirty="0" smtClean="0"/>
              <a:t>” </a:t>
            </a:r>
            <a:r>
              <a:rPr lang="en-US" dirty="0" smtClean="0"/>
              <a:t>compared to other states</a:t>
            </a:r>
            <a:endParaRPr lang="en-US" dirty="0"/>
          </a:p>
        </p:txBody>
      </p:sp>
      <p:pic>
        <p:nvPicPr>
          <p:cNvPr id="8" name="Picture 7"/>
          <p:cNvPicPr>
            <a:picLocks noChangeAspect="1"/>
          </p:cNvPicPr>
          <p:nvPr/>
        </p:nvPicPr>
        <p:blipFill>
          <a:blip r:embed="rId4"/>
          <a:stretch>
            <a:fillRect/>
          </a:stretch>
        </p:blipFill>
        <p:spPr>
          <a:xfrm>
            <a:off x="8011887" y="1238930"/>
            <a:ext cx="3939948" cy="2727656"/>
          </a:xfrm>
          <a:prstGeom prst="rect">
            <a:avLst/>
          </a:prstGeom>
        </p:spPr>
      </p:pic>
      <p:sp>
        <p:nvSpPr>
          <p:cNvPr id="9" name="Rectangle 8"/>
          <p:cNvSpPr/>
          <p:nvPr/>
        </p:nvSpPr>
        <p:spPr>
          <a:xfrm>
            <a:off x="8360909" y="4069995"/>
            <a:ext cx="3668486" cy="646331"/>
          </a:xfrm>
          <a:prstGeom prst="rect">
            <a:avLst/>
          </a:prstGeom>
        </p:spPr>
        <p:txBody>
          <a:bodyPr wrap="square">
            <a:spAutoFit/>
          </a:bodyPr>
          <a:lstStyle/>
          <a:p>
            <a:pPr algn="just"/>
            <a:r>
              <a:rPr lang="en-US" dirty="0"/>
              <a:t>for customer segment, more tax </a:t>
            </a:r>
            <a:r>
              <a:rPr lang="en-US" dirty="0" smtClean="0"/>
              <a:t>was </a:t>
            </a:r>
            <a:r>
              <a:rPr lang="en-US" dirty="0"/>
              <a:t>being paid on </a:t>
            </a:r>
            <a:r>
              <a:rPr lang="en-US" b="1" dirty="0"/>
              <a:t>“Small Business”</a:t>
            </a:r>
            <a:r>
              <a:rPr lang="en-US" dirty="0"/>
              <a:t>.</a:t>
            </a:r>
          </a:p>
        </p:txBody>
      </p:sp>
    </p:spTree>
    <p:extLst>
      <p:ext uri="{BB962C8B-B14F-4D97-AF65-F5344CB8AC3E}">
        <p14:creationId xmlns:p14="http://schemas.microsoft.com/office/powerpoint/2010/main" val="40449860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040086" cy="587829"/>
          </a:xfrm>
        </p:spPr>
        <p:txBody>
          <a:bodyPr>
            <a:normAutofit/>
          </a:bodyPr>
          <a:lstStyle/>
          <a:p>
            <a:pPr algn="l"/>
            <a:r>
              <a:rPr lang="en-US" sz="2800" b="1" dirty="0" smtClean="0">
                <a:latin typeface="Century Gothic" panose="020B0502020202020204" pitchFamily="34" charset="0"/>
              </a:rPr>
              <a:t>DISCOUNT BAND ANALYSIS</a:t>
            </a:r>
            <a:endParaRPr lang="en-US" sz="2800" b="1" dirty="0">
              <a:latin typeface="Century Gothic" panose="020B0502020202020204" pitchFamily="34" charset="0"/>
            </a:endParaRPr>
          </a:p>
        </p:txBody>
      </p:sp>
      <p:pic>
        <p:nvPicPr>
          <p:cNvPr id="5" name="Picture 4"/>
          <p:cNvPicPr>
            <a:picLocks noChangeAspect="1"/>
          </p:cNvPicPr>
          <p:nvPr/>
        </p:nvPicPr>
        <p:blipFill>
          <a:blip r:embed="rId2"/>
          <a:stretch>
            <a:fillRect/>
          </a:stretch>
        </p:blipFill>
        <p:spPr>
          <a:xfrm>
            <a:off x="100011" y="587827"/>
            <a:ext cx="4861647" cy="3657601"/>
          </a:xfrm>
          <a:prstGeom prst="rect">
            <a:avLst/>
          </a:prstGeom>
        </p:spPr>
      </p:pic>
      <p:sp>
        <p:nvSpPr>
          <p:cNvPr id="6" name="Rectangle 5"/>
          <p:cNvSpPr/>
          <p:nvPr/>
        </p:nvSpPr>
        <p:spPr>
          <a:xfrm>
            <a:off x="5421086" y="1244101"/>
            <a:ext cx="6096000" cy="1754326"/>
          </a:xfrm>
          <a:prstGeom prst="rect">
            <a:avLst/>
          </a:prstGeom>
        </p:spPr>
        <p:txBody>
          <a:bodyPr>
            <a:spAutoFit/>
          </a:bodyPr>
          <a:lstStyle/>
          <a:p>
            <a:pPr algn="just"/>
            <a:r>
              <a:rPr lang="en-US" dirty="0"/>
              <a:t>Looking at </a:t>
            </a:r>
            <a:r>
              <a:rPr lang="en-US" dirty="0" smtClean="0"/>
              <a:t>the revenue recorded by each discount band, </a:t>
            </a:r>
            <a:r>
              <a:rPr lang="en-US" b="1" dirty="0" smtClean="0"/>
              <a:t>“Medium” and “High” </a:t>
            </a:r>
            <a:r>
              <a:rPr lang="en-US" dirty="0" smtClean="0"/>
              <a:t>discount bands contributed maximally to the revenue for the period under review, with a percentage contribution of </a:t>
            </a:r>
            <a:r>
              <a:rPr lang="en-US" b="1" dirty="0" smtClean="0"/>
              <a:t>33% and 32% </a:t>
            </a:r>
            <a:r>
              <a:rPr lang="en-US" dirty="0" smtClean="0"/>
              <a:t>respectively. This shows that the company experienced more sales when there are discount on their products.</a:t>
            </a:r>
            <a:endParaRPr lang="en-US" dirty="0"/>
          </a:p>
        </p:txBody>
      </p:sp>
      <p:sp>
        <p:nvSpPr>
          <p:cNvPr id="8" name="Rectangle 7"/>
          <p:cNvSpPr/>
          <p:nvPr/>
        </p:nvSpPr>
        <p:spPr>
          <a:xfrm>
            <a:off x="5562601" y="4449448"/>
            <a:ext cx="6096000" cy="923330"/>
          </a:xfrm>
          <a:prstGeom prst="rect">
            <a:avLst/>
          </a:prstGeom>
        </p:spPr>
        <p:txBody>
          <a:bodyPr>
            <a:spAutoFit/>
          </a:bodyPr>
          <a:lstStyle/>
          <a:p>
            <a:pPr algn="just"/>
            <a:r>
              <a:rPr lang="en-US" dirty="0" smtClean="0"/>
              <a:t>This analysis shows that there is more sales when there are discount on products. However, the result for each discount band varies per product.</a:t>
            </a:r>
            <a:endParaRPr lang="en-US" dirty="0"/>
          </a:p>
        </p:txBody>
      </p:sp>
      <p:pic>
        <p:nvPicPr>
          <p:cNvPr id="9" name="Picture 8"/>
          <p:cNvPicPr>
            <a:picLocks noChangeAspect="1"/>
          </p:cNvPicPr>
          <p:nvPr/>
        </p:nvPicPr>
        <p:blipFill>
          <a:blip r:embed="rId3"/>
          <a:stretch>
            <a:fillRect/>
          </a:stretch>
        </p:blipFill>
        <p:spPr>
          <a:xfrm>
            <a:off x="0" y="4133850"/>
            <a:ext cx="5040086" cy="2724150"/>
          </a:xfrm>
          <a:prstGeom prst="rect">
            <a:avLst/>
          </a:prstGeom>
        </p:spPr>
      </p:pic>
    </p:spTree>
    <p:extLst>
      <p:ext uri="{BB962C8B-B14F-4D97-AF65-F5344CB8AC3E}">
        <p14:creationId xmlns:p14="http://schemas.microsoft.com/office/powerpoint/2010/main" val="29805074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0" y="-1"/>
            <a:ext cx="12192000" cy="587829"/>
          </a:xfrm>
        </p:spPr>
        <p:txBody>
          <a:bodyPr>
            <a:normAutofit fontScale="90000"/>
          </a:bodyPr>
          <a:lstStyle/>
          <a:p>
            <a:pPr algn="l"/>
            <a:r>
              <a:rPr lang="en-US" sz="4800" b="1" dirty="0" smtClean="0">
                <a:latin typeface="+mn-lt"/>
              </a:rPr>
              <a:t>RECOMMENDATIONS</a:t>
            </a:r>
            <a:endParaRPr lang="en-US" sz="4800" b="1" dirty="0">
              <a:latin typeface="+mn-lt"/>
            </a:endParaRPr>
          </a:p>
        </p:txBody>
      </p:sp>
      <p:sp>
        <p:nvSpPr>
          <p:cNvPr id="5" name="Subtitle 2"/>
          <p:cNvSpPr>
            <a:spLocks noGrp="1"/>
          </p:cNvSpPr>
          <p:nvPr>
            <p:ph type="subTitle" idx="1"/>
          </p:nvPr>
        </p:nvSpPr>
        <p:spPr>
          <a:xfrm>
            <a:off x="0" y="587828"/>
            <a:ext cx="12191999" cy="6270172"/>
          </a:xfrm>
        </p:spPr>
        <p:txBody>
          <a:bodyPr>
            <a:noAutofit/>
          </a:bodyPr>
          <a:lstStyle/>
          <a:p>
            <a:pPr marL="342900" indent="-342900" algn="just">
              <a:buFont typeface="Arial" panose="020B0604020202020204" pitchFamily="34" charset="0"/>
              <a:buChar char="•"/>
            </a:pPr>
            <a:r>
              <a:rPr lang="en-US" dirty="0" smtClean="0"/>
              <a:t>The key products that were the drivers of performance are “Biro”, “Pencil” and “A4 paper”.</a:t>
            </a:r>
          </a:p>
          <a:p>
            <a:pPr marL="342900" indent="-342900" algn="just">
              <a:buFont typeface="Arial" panose="020B0604020202020204" pitchFamily="34" charset="0"/>
              <a:buChar char="•"/>
            </a:pPr>
            <a:r>
              <a:rPr lang="en-US" dirty="0" smtClean="0"/>
              <a:t>We suggest that the company discontinue the production of stapler due to its high cost of production. Also, the product performance increased only when there was a medium or high discount on the product. The product also experienced a negative PAT year upon year.</a:t>
            </a:r>
          </a:p>
          <a:p>
            <a:pPr marL="342900" indent="-342900" algn="just">
              <a:buFont typeface="Arial" panose="020B0604020202020204" pitchFamily="34" charset="0"/>
              <a:buChar char="•"/>
            </a:pPr>
            <a:r>
              <a:rPr lang="en-US" dirty="0" smtClean="0"/>
              <a:t>Generally, Royalty limited needs to work on their manufacturing cost. We will advise they source for their raw materials locally so as to reduce the manufacturing cost because this is the major cost affecting their profit.</a:t>
            </a:r>
          </a:p>
          <a:p>
            <a:pPr marL="342900" indent="-342900" algn="just">
              <a:buFont typeface="Arial" panose="020B0604020202020204" pitchFamily="34" charset="0"/>
              <a:buChar char="•"/>
            </a:pPr>
            <a:r>
              <a:rPr lang="en-US" dirty="0"/>
              <a:t>In terms of promos/discount, the low discount band should </a:t>
            </a:r>
            <a:r>
              <a:rPr lang="en-US" dirty="0" smtClean="0"/>
              <a:t>be more encouraged in </a:t>
            </a:r>
            <a:r>
              <a:rPr lang="en-US" dirty="0"/>
              <a:t>order to improve the profit of the organization.</a:t>
            </a:r>
          </a:p>
          <a:p>
            <a:pPr marL="342900" indent="-342900" algn="just">
              <a:buFont typeface="Arial" panose="020B0604020202020204" pitchFamily="34" charset="0"/>
              <a:buChar char="•"/>
            </a:pPr>
            <a:endParaRPr lang="en-US" dirty="0" smtClean="0"/>
          </a:p>
          <a:p>
            <a:pPr marL="342900" indent="-342900" algn="just">
              <a:buFont typeface="Arial" panose="020B0604020202020204" pitchFamily="34" charset="0"/>
              <a:buChar char="•"/>
            </a:pPr>
            <a:endParaRPr lang="en-US" dirty="0" smtClean="0"/>
          </a:p>
          <a:p>
            <a:pPr marL="342900" indent="-342900" algn="just">
              <a:buFont typeface="Arial" panose="020B0604020202020204" pitchFamily="34" charset="0"/>
              <a:buChar char="•"/>
            </a:pPr>
            <a:endParaRPr lang="en-US" dirty="0"/>
          </a:p>
        </p:txBody>
      </p:sp>
    </p:spTree>
    <p:extLst>
      <p:ext uri="{BB962C8B-B14F-4D97-AF65-F5344CB8AC3E}">
        <p14:creationId xmlns:p14="http://schemas.microsoft.com/office/powerpoint/2010/main" val="16602397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0" y="-1"/>
            <a:ext cx="12192000" cy="587829"/>
          </a:xfrm>
        </p:spPr>
        <p:txBody>
          <a:bodyPr>
            <a:normAutofit fontScale="90000"/>
          </a:bodyPr>
          <a:lstStyle/>
          <a:p>
            <a:pPr algn="l"/>
            <a:r>
              <a:rPr lang="en-US" sz="4800" b="1" dirty="0" smtClean="0">
                <a:latin typeface="+mn-lt"/>
              </a:rPr>
              <a:t>CONCLUSION</a:t>
            </a:r>
            <a:endParaRPr lang="en-US" sz="4800" b="1" dirty="0">
              <a:latin typeface="+mn-lt"/>
            </a:endParaRPr>
          </a:p>
        </p:txBody>
      </p:sp>
      <p:sp>
        <p:nvSpPr>
          <p:cNvPr id="5" name="Subtitle 2"/>
          <p:cNvSpPr>
            <a:spLocks noGrp="1"/>
          </p:cNvSpPr>
          <p:nvPr>
            <p:ph type="subTitle" idx="1"/>
          </p:nvPr>
        </p:nvSpPr>
        <p:spPr>
          <a:xfrm>
            <a:off x="0" y="587828"/>
            <a:ext cx="12191999" cy="6270172"/>
          </a:xfrm>
        </p:spPr>
        <p:txBody>
          <a:bodyPr>
            <a:noAutofit/>
          </a:bodyPr>
          <a:lstStyle/>
          <a:p>
            <a:pPr marL="342900" indent="-342900" algn="just">
              <a:buFont typeface="Arial" panose="020B0604020202020204" pitchFamily="34" charset="0"/>
              <a:buChar char="•"/>
            </a:pPr>
            <a:r>
              <a:rPr lang="en-US" dirty="0" smtClean="0"/>
              <a:t>In conclusion, the period under review was a good year for Royalty Limited with a PAT of N13.8million. The company needs to work on reducing the manufacturing cost for all products, in order to have higher profits in coming years. </a:t>
            </a:r>
          </a:p>
          <a:p>
            <a:pPr marL="342900" indent="-342900" algn="just">
              <a:buFont typeface="Arial" panose="020B0604020202020204" pitchFamily="34" charset="0"/>
              <a:buChar char="•"/>
            </a:pPr>
            <a:endParaRPr lang="en-US" dirty="0" smtClean="0"/>
          </a:p>
          <a:p>
            <a:pPr marL="342900" indent="-342900" algn="just">
              <a:buFont typeface="Arial" panose="020B0604020202020204" pitchFamily="34" charset="0"/>
              <a:buChar char="•"/>
            </a:pPr>
            <a:endParaRPr lang="en-US" dirty="0"/>
          </a:p>
        </p:txBody>
      </p:sp>
    </p:spTree>
    <p:extLst>
      <p:ext uri="{BB962C8B-B14F-4D97-AF65-F5344CB8AC3E}">
        <p14:creationId xmlns:p14="http://schemas.microsoft.com/office/powerpoint/2010/main" val="28961526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2660"/>
            <a:ext cx="6738257" cy="762000"/>
          </a:xfrm>
        </p:spPr>
        <p:txBody>
          <a:bodyPr>
            <a:normAutofit/>
          </a:bodyPr>
          <a:lstStyle/>
          <a:p>
            <a:r>
              <a:rPr lang="en-US" sz="4800" b="1" dirty="0" smtClean="0">
                <a:latin typeface="Century Gothic" panose="020B0502020202020204" pitchFamily="34" charset="0"/>
              </a:rPr>
              <a:t>EXECUTIVE SUMMARY</a:t>
            </a:r>
            <a:endParaRPr lang="en-US" sz="4800" b="1" dirty="0">
              <a:latin typeface="Century Gothic" panose="020B0502020202020204" pitchFamily="34" charset="0"/>
            </a:endParaRPr>
          </a:p>
        </p:txBody>
      </p:sp>
      <p:pic>
        <p:nvPicPr>
          <p:cNvPr id="3" name="Picture 2"/>
          <p:cNvPicPr>
            <a:picLocks noChangeAspect="1"/>
          </p:cNvPicPr>
          <p:nvPr/>
        </p:nvPicPr>
        <p:blipFill>
          <a:blip r:embed="rId2"/>
          <a:stretch>
            <a:fillRect/>
          </a:stretch>
        </p:blipFill>
        <p:spPr>
          <a:xfrm>
            <a:off x="-1" y="617764"/>
            <a:ext cx="12192001" cy="6217524"/>
          </a:xfrm>
          <a:prstGeom prst="rect">
            <a:avLst/>
          </a:prstGeom>
        </p:spPr>
      </p:pic>
    </p:spTree>
    <p:extLst>
      <p:ext uri="{BB962C8B-B14F-4D97-AF65-F5344CB8AC3E}">
        <p14:creationId xmlns:p14="http://schemas.microsoft.com/office/powerpoint/2010/main" val="27134810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2660"/>
            <a:ext cx="6738257" cy="762000"/>
          </a:xfrm>
        </p:spPr>
        <p:txBody>
          <a:bodyPr>
            <a:normAutofit/>
          </a:bodyPr>
          <a:lstStyle/>
          <a:p>
            <a:r>
              <a:rPr lang="en-US" sz="4800" b="1" dirty="0" smtClean="0">
                <a:latin typeface="Century Gothic" panose="020B0502020202020204" pitchFamily="34" charset="0"/>
              </a:rPr>
              <a:t>EXECUTIVE SUMMARY</a:t>
            </a:r>
            <a:endParaRPr lang="en-US" sz="4800" b="1" dirty="0">
              <a:latin typeface="Century Gothic" panose="020B0502020202020204" pitchFamily="34" charset="0"/>
            </a:endParaRPr>
          </a:p>
        </p:txBody>
      </p:sp>
      <p:pic>
        <p:nvPicPr>
          <p:cNvPr id="5" name="Picture 4"/>
          <p:cNvPicPr>
            <a:picLocks noChangeAspect="1"/>
          </p:cNvPicPr>
          <p:nvPr/>
        </p:nvPicPr>
        <p:blipFill>
          <a:blip r:embed="rId2"/>
          <a:stretch>
            <a:fillRect/>
          </a:stretch>
        </p:blipFill>
        <p:spPr>
          <a:xfrm>
            <a:off x="0" y="563335"/>
            <a:ext cx="12192000" cy="6303622"/>
          </a:xfrm>
          <a:prstGeom prst="rect">
            <a:avLst/>
          </a:prstGeom>
        </p:spPr>
      </p:pic>
    </p:spTree>
    <p:extLst>
      <p:ext uri="{BB962C8B-B14F-4D97-AF65-F5344CB8AC3E}">
        <p14:creationId xmlns:p14="http://schemas.microsoft.com/office/powerpoint/2010/main" val="32985266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2660"/>
            <a:ext cx="6738257" cy="762000"/>
          </a:xfrm>
        </p:spPr>
        <p:txBody>
          <a:bodyPr>
            <a:normAutofit/>
          </a:bodyPr>
          <a:lstStyle/>
          <a:p>
            <a:r>
              <a:rPr lang="en-US" sz="4800" b="1" dirty="0" smtClean="0">
                <a:latin typeface="Century Gothic" panose="020B0502020202020204" pitchFamily="34" charset="0"/>
              </a:rPr>
              <a:t>EXECUTIVE SUMMARY</a:t>
            </a:r>
            <a:endParaRPr lang="en-US" sz="4800" b="1" dirty="0">
              <a:latin typeface="Century Gothic" panose="020B0502020202020204" pitchFamily="34" charset="0"/>
            </a:endParaRPr>
          </a:p>
        </p:txBody>
      </p:sp>
      <p:pic>
        <p:nvPicPr>
          <p:cNvPr id="3" name="Picture 2"/>
          <p:cNvPicPr>
            <a:picLocks noChangeAspect="1"/>
          </p:cNvPicPr>
          <p:nvPr/>
        </p:nvPicPr>
        <p:blipFill>
          <a:blip r:embed="rId2"/>
          <a:stretch>
            <a:fillRect/>
          </a:stretch>
        </p:blipFill>
        <p:spPr>
          <a:xfrm>
            <a:off x="10885" y="651782"/>
            <a:ext cx="12192001" cy="6184446"/>
          </a:xfrm>
          <a:prstGeom prst="rect">
            <a:avLst/>
          </a:prstGeom>
        </p:spPr>
      </p:pic>
    </p:spTree>
    <p:extLst>
      <p:ext uri="{BB962C8B-B14F-4D97-AF65-F5344CB8AC3E}">
        <p14:creationId xmlns:p14="http://schemas.microsoft.com/office/powerpoint/2010/main" val="1421704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2660"/>
            <a:ext cx="6738257" cy="762000"/>
          </a:xfrm>
        </p:spPr>
        <p:txBody>
          <a:bodyPr>
            <a:normAutofit/>
          </a:bodyPr>
          <a:lstStyle/>
          <a:p>
            <a:r>
              <a:rPr lang="en-US" sz="4800" b="1" dirty="0" smtClean="0">
                <a:latin typeface="Century Gothic" panose="020B0502020202020204" pitchFamily="34" charset="0"/>
              </a:rPr>
              <a:t>EXECUTIVE SUMMARY</a:t>
            </a:r>
            <a:endParaRPr lang="en-US" sz="4800" b="1" dirty="0">
              <a:latin typeface="Century Gothic" panose="020B0502020202020204" pitchFamily="34" charset="0"/>
            </a:endParaRPr>
          </a:p>
        </p:txBody>
      </p:sp>
      <p:pic>
        <p:nvPicPr>
          <p:cNvPr id="4" name="Picture 3"/>
          <p:cNvPicPr>
            <a:picLocks noChangeAspect="1"/>
          </p:cNvPicPr>
          <p:nvPr/>
        </p:nvPicPr>
        <p:blipFill>
          <a:blip r:embed="rId2"/>
          <a:stretch>
            <a:fillRect/>
          </a:stretch>
        </p:blipFill>
        <p:spPr>
          <a:xfrm>
            <a:off x="-1" y="729340"/>
            <a:ext cx="12192001" cy="5978256"/>
          </a:xfrm>
          <a:prstGeom prst="rect">
            <a:avLst/>
          </a:prstGeom>
        </p:spPr>
      </p:pic>
    </p:spTree>
    <p:extLst>
      <p:ext uri="{BB962C8B-B14F-4D97-AF65-F5344CB8AC3E}">
        <p14:creationId xmlns:p14="http://schemas.microsoft.com/office/powerpoint/2010/main" val="33400373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587829"/>
          </a:xfrm>
        </p:spPr>
        <p:txBody>
          <a:bodyPr>
            <a:normAutofit fontScale="90000"/>
          </a:bodyPr>
          <a:lstStyle/>
          <a:p>
            <a:pPr algn="l"/>
            <a:r>
              <a:rPr lang="en-US" sz="4800" b="1" dirty="0" smtClean="0">
                <a:latin typeface="Century Gothic" panose="020B0502020202020204" pitchFamily="34" charset="0"/>
              </a:rPr>
              <a:t>KEY FINDINGS</a:t>
            </a:r>
            <a:endParaRPr lang="en-US" sz="4800" b="1" dirty="0">
              <a:latin typeface="Century Gothic" panose="020B0502020202020204" pitchFamily="34" charset="0"/>
            </a:endParaRPr>
          </a:p>
        </p:txBody>
      </p:sp>
      <p:sp>
        <p:nvSpPr>
          <p:cNvPr id="5" name="Subtitle 2"/>
          <p:cNvSpPr>
            <a:spLocks noGrp="1"/>
          </p:cNvSpPr>
          <p:nvPr>
            <p:ph type="subTitle" idx="1"/>
          </p:nvPr>
        </p:nvSpPr>
        <p:spPr>
          <a:xfrm>
            <a:off x="5323117" y="1219539"/>
            <a:ext cx="5998029" cy="1545433"/>
          </a:xfrm>
        </p:spPr>
        <p:txBody>
          <a:bodyPr>
            <a:noAutofit/>
          </a:bodyPr>
          <a:lstStyle/>
          <a:p>
            <a:pPr algn="just"/>
            <a:r>
              <a:rPr lang="en-US" sz="1600" dirty="0" smtClean="0">
                <a:latin typeface="Century Gothic" panose="020B0502020202020204" pitchFamily="34" charset="0"/>
              </a:rPr>
              <a:t>Based on the revenue recorded by the six geo-political zones in the country, </a:t>
            </a:r>
            <a:r>
              <a:rPr lang="en-US" sz="1600" b="1" dirty="0" smtClean="0">
                <a:latin typeface="Century Gothic" panose="020B0502020202020204" pitchFamily="34" charset="0"/>
              </a:rPr>
              <a:t>“North West” </a:t>
            </a:r>
            <a:r>
              <a:rPr lang="en-US" sz="1600" dirty="0" smtClean="0">
                <a:latin typeface="Century Gothic" panose="020B0502020202020204" pitchFamily="34" charset="0"/>
              </a:rPr>
              <a:t>contributed majorly to revenue for the period under review. “</a:t>
            </a:r>
            <a:r>
              <a:rPr lang="en-US" sz="1600" b="1" dirty="0" smtClean="0">
                <a:latin typeface="Century Gothic" panose="020B0502020202020204" pitchFamily="34" charset="0"/>
              </a:rPr>
              <a:t>North West”</a:t>
            </a:r>
            <a:r>
              <a:rPr lang="en-US" sz="1600" dirty="0" smtClean="0">
                <a:latin typeface="Century Gothic" panose="020B0502020202020204" pitchFamily="34" charset="0"/>
              </a:rPr>
              <a:t> had a total revenue of </a:t>
            </a:r>
            <a:r>
              <a:rPr lang="en-US" sz="1600" b="1" dirty="0" smtClean="0">
                <a:latin typeface="Century Gothic" panose="020B0502020202020204" pitchFamily="34" charset="0"/>
              </a:rPr>
              <a:t>N10,927,564</a:t>
            </a:r>
            <a:r>
              <a:rPr lang="en-US" sz="1600" dirty="0" smtClean="0">
                <a:latin typeface="Century Gothic" panose="020B0502020202020204" pitchFamily="34" charset="0"/>
              </a:rPr>
              <a:t> contributing </a:t>
            </a:r>
            <a:r>
              <a:rPr lang="en-US" sz="1600" b="1" dirty="0" smtClean="0">
                <a:latin typeface="Century Gothic" panose="020B0502020202020204" pitchFamily="34" charset="0"/>
              </a:rPr>
              <a:t>19% </a:t>
            </a:r>
            <a:r>
              <a:rPr lang="en-US" sz="1600" dirty="0" smtClean="0">
                <a:latin typeface="Century Gothic" panose="020B0502020202020204" pitchFamily="34" charset="0"/>
              </a:rPr>
              <a:t>of the total revenue. The least zone was “</a:t>
            </a:r>
            <a:r>
              <a:rPr lang="en-US" sz="1600" b="1" dirty="0" smtClean="0">
                <a:latin typeface="Century Gothic" panose="020B0502020202020204" pitchFamily="34" charset="0"/>
              </a:rPr>
              <a:t>FCT” </a:t>
            </a:r>
            <a:r>
              <a:rPr lang="en-US" sz="1600" dirty="0" smtClean="0">
                <a:latin typeface="Century Gothic" panose="020B0502020202020204" pitchFamily="34" charset="0"/>
              </a:rPr>
              <a:t>with a total revenue of </a:t>
            </a:r>
            <a:r>
              <a:rPr lang="en-US" sz="1600" b="1" dirty="0" smtClean="0">
                <a:latin typeface="Century Gothic" panose="020B0502020202020204" pitchFamily="34" charset="0"/>
              </a:rPr>
              <a:t>N1,615,583</a:t>
            </a:r>
            <a:r>
              <a:rPr lang="en-US" sz="1600" dirty="0" smtClean="0">
                <a:latin typeface="Century Gothic" panose="020B0502020202020204" pitchFamily="34" charset="0"/>
              </a:rPr>
              <a:t> contributing </a:t>
            </a:r>
            <a:r>
              <a:rPr lang="en-US" sz="1600" b="1" dirty="0">
                <a:latin typeface="Century Gothic" panose="020B0502020202020204" pitchFamily="34" charset="0"/>
              </a:rPr>
              <a:t>3</a:t>
            </a:r>
            <a:r>
              <a:rPr lang="en-US" sz="1600" b="1" dirty="0" smtClean="0">
                <a:latin typeface="Century Gothic" panose="020B0502020202020204" pitchFamily="34" charset="0"/>
              </a:rPr>
              <a:t>% </a:t>
            </a:r>
            <a:r>
              <a:rPr lang="en-US" sz="1600" dirty="0" smtClean="0">
                <a:latin typeface="Century Gothic" panose="020B0502020202020204" pitchFamily="34" charset="0"/>
              </a:rPr>
              <a:t>of the total revenue.</a:t>
            </a:r>
          </a:p>
          <a:p>
            <a:pPr marL="342900" indent="-342900" algn="just">
              <a:buFont typeface="Arial" panose="020B0604020202020204" pitchFamily="34" charset="0"/>
              <a:buChar char="•"/>
            </a:pPr>
            <a:endParaRPr lang="en-US" sz="1600" dirty="0" smtClean="0">
              <a:latin typeface="Century Gothic" panose="020B0502020202020204" pitchFamily="34" charset="0"/>
            </a:endParaRPr>
          </a:p>
          <a:p>
            <a:pPr algn="just"/>
            <a:endParaRPr lang="en-US" sz="1600" dirty="0">
              <a:latin typeface="Century Gothic" panose="020B0502020202020204" pitchFamily="34" charset="0"/>
            </a:endParaRPr>
          </a:p>
        </p:txBody>
      </p:sp>
      <p:sp>
        <p:nvSpPr>
          <p:cNvPr id="6" name="Rectangle 5"/>
          <p:cNvSpPr/>
          <p:nvPr/>
        </p:nvSpPr>
        <p:spPr>
          <a:xfrm>
            <a:off x="5323117" y="4195582"/>
            <a:ext cx="6096000" cy="830997"/>
          </a:xfrm>
          <a:prstGeom prst="rect">
            <a:avLst/>
          </a:prstGeom>
        </p:spPr>
        <p:txBody>
          <a:bodyPr>
            <a:spAutoFit/>
          </a:bodyPr>
          <a:lstStyle/>
          <a:p>
            <a:pPr algn="just"/>
            <a:r>
              <a:rPr lang="en-US" sz="1600" dirty="0">
                <a:latin typeface="Century Gothic" panose="020B0502020202020204" pitchFamily="34" charset="0"/>
              </a:rPr>
              <a:t>In terms of profit, </a:t>
            </a:r>
            <a:r>
              <a:rPr lang="en-US" sz="1600" b="1" dirty="0" smtClean="0">
                <a:latin typeface="Century Gothic" panose="020B0502020202020204" pitchFamily="34" charset="0"/>
              </a:rPr>
              <a:t>“North West” </a:t>
            </a:r>
            <a:r>
              <a:rPr lang="en-US" sz="1600" dirty="0" smtClean="0">
                <a:latin typeface="Century Gothic" panose="020B0502020202020204" pitchFamily="34" charset="0"/>
              </a:rPr>
              <a:t>led </a:t>
            </a:r>
            <a:r>
              <a:rPr lang="en-US" sz="1600" dirty="0">
                <a:latin typeface="Century Gothic" panose="020B0502020202020204" pitchFamily="34" charset="0"/>
              </a:rPr>
              <a:t>the way with a total Profit After Tax (PAT) of  </a:t>
            </a:r>
            <a:r>
              <a:rPr lang="en-US" sz="1600" b="1" dirty="0" smtClean="0">
                <a:latin typeface="Century Gothic" panose="020B0502020202020204" pitchFamily="34" charset="0"/>
              </a:rPr>
              <a:t>N6,250,961 </a:t>
            </a:r>
            <a:r>
              <a:rPr lang="en-US" sz="1600" dirty="0" smtClean="0">
                <a:latin typeface="Century Gothic" panose="020B0502020202020204" pitchFamily="34" charset="0"/>
              </a:rPr>
              <a:t> </a:t>
            </a:r>
            <a:r>
              <a:rPr lang="en-US" sz="1600" dirty="0">
                <a:latin typeface="Century Gothic" panose="020B0502020202020204" pitchFamily="34" charset="0"/>
              </a:rPr>
              <a:t>representing </a:t>
            </a:r>
            <a:r>
              <a:rPr lang="en-US" sz="1600" b="1" dirty="0" smtClean="0">
                <a:latin typeface="Century Gothic" panose="020B0502020202020204" pitchFamily="34" charset="0"/>
              </a:rPr>
              <a:t>19% </a:t>
            </a:r>
            <a:r>
              <a:rPr lang="en-US" sz="1600" dirty="0">
                <a:latin typeface="Century Gothic" panose="020B0502020202020204" pitchFamily="34" charset="0"/>
              </a:rPr>
              <a:t>of the total profit for the period under review. </a:t>
            </a:r>
          </a:p>
        </p:txBody>
      </p:sp>
      <p:pic>
        <p:nvPicPr>
          <p:cNvPr id="9" name="Picture 8"/>
          <p:cNvPicPr>
            <a:picLocks noChangeAspect="1"/>
          </p:cNvPicPr>
          <p:nvPr/>
        </p:nvPicPr>
        <p:blipFill>
          <a:blip r:embed="rId2"/>
          <a:stretch>
            <a:fillRect/>
          </a:stretch>
        </p:blipFill>
        <p:spPr>
          <a:xfrm>
            <a:off x="1" y="1010926"/>
            <a:ext cx="3973286" cy="2617472"/>
          </a:xfrm>
          <a:prstGeom prst="rect">
            <a:avLst/>
          </a:prstGeom>
        </p:spPr>
      </p:pic>
      <p:pic>
        <p:nvPicPr>
          <p:cNvPr id="10" name="Picture 9"/>
          <p:cNvPicPr>
            <a:picLocks noChangeAspect="1"/>
          </p:cNvPicPr>
          <p:nvPr/>
        </p:nvPicPr>
        <p:blipFill>
          <a:blip r:embed="rId3"/>
          <a:stretch>
            <a:fillRect/>
          </a:stretch>
        </p:blipFill>
        <p:spPr>
          <a:xfrm>
            <a:off x="243902" y="4195582"/>
            <a:ext cx="3631414" cy="2162153"/>
          </a:xfrm>
          <a:prstGeom prst="rect">
            <a:avLst/>
          </a:prstGeom>
        </p:spPr>
      </p:pic>
    </p:spTree>
    <p:extLst>
      <p:ext uri="{BB962C8B-B14F-4D97-AF65-F5344CB8AC3E}">
        <p14:creationId xmlns:p14="http://schemas.microsoft.com/office/powerpoint/2010/main" val="24396464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587829"/>
          </a:xfrm>
        </p:spPr>
        <p:txBody>
          <a:bodyPr>
            <a:normAutofit fontScale="90000"/>
          </a:bodyPr>
          <a:lstStyle/>
          <a:p>
            <a:pPr algn="l"/>
            <a:r>
              <a:rPr lang="en-US" sz="4800" b="1" dirty="0" smtClean="0">
                <a:latin typeface="Century Gothic" panose="020B0502020202020204" pitchFamily="34" charset="0"/>
              </a:rPr>
              <a:t>KEY FINDINGS</a:t>
            </a:r>
            <a:endParaRPr lang="en-US" sz="4800" b="1" dirty="0">
              <a:latin typeface="Century Gothic" panose="020B0502020202020204" pitchFamily="34" charset="0"/>
            </a:endParaRPr>
          </a:p>
        </p:txBody>
      </p:sp>
      <p:sp>
        <p:nvSpPr>
          <p:cNvPr id="5" name="Subtitle 2"/>
          <p:cNvSpPr>
            <a:spLocks noGrp="1"/>
          </p:cNvSpPr>
          <p:nvPr>
            <p:ph type="subTitle" idx="1"/>
          </p:nvPr>
        </p:nvSpPr>
        <p:spPr>
          <a:xfrm>
            <a:off x="5421088" y="1450261"/>
            <a:ext cx="5998029" cy="1227626"/>
          </a:xfrm>
        </p:spPr>
        <p:txBody>
          <a:bodyPr>
            <a:noAutofit/>
          </a:bodyPr>
          <a:lstStyle/>
          <a:p>
            <a:pPr algn="just"/>
            <a:r>
              <a:rPr lang="en-US" sz="1600" dirty="0">
                <a:latin typeface="Century Gothic" panose="020B0502020202020204" pitchFamily="34" charset="0"/>
              </a:rPr>
              <a:t>For the </a:t>
            </a:r>
            <a:r>
              <a:rPr lang="en-US" sz="1600" dirty="0" smtClean="0">
                <a:latin typeface="Century Gothic" panose="020B0502020202020204" pitchFamily="34" charset="0"/>
              </a:rPr>
              <a:t>revenue contribution by each manufacturer, </a:t>
            </a:r>
            <a:r>
              <a:rPr lang="en-US" sz="1600" b="1" dirty="0" smtClean="0">
                <a:latin typeface="Century Gothic" panose="020B0502020202020204" pitchFamily="34" charset="0"/>
              </a:rPr>
              <a:t>“Fabrikam” </a:t>
            </a:r>
            <a:r>
              <a:rPr lang="en-US" sz="1600" dirty="0" smtClean="0">
                <a:latin typeface="Century Gothic" panose="020B0502020202020204" pitchFamily="34" charset="0"/>
              </a:rPr>
              <a:t>was </a:t>
            </a:r>
            <a:r>
              <a:rPr lang="en-US" sz="1600" dirty="0">
                <a:latin typeface="Century Gothic" panose="020B0502020202020204" pitchFamily="34" charset="0"/>
              </a:rPr>
              <a:t>the highest performing </a:t>
            </a:r>
            <a:r>
              <a:rPr lang="en-US" sz="1600" dirty="0" smtClean="0">
                <a:latin typeface="Century Gothic" panose="020B0502020202020204" pitchFamily="34" charset="0"/>
              </a:rPr>
              <a:t>manufacturer </a:t>
            </a:r>
            <a:r>
              <a:rPr lang="en-US" sz="1600" dirty="0">
                <a:latin typeface="Century Gothic" panose="020B0502020202020204" pitchFamily="34" charset="0"/>
              </a:rPr>
              <a:t>with a revenue of </a:t>
            </a:r>
            <a:r>
              <a:rPr lang="en-US" sz="1600" b="1" dirty="0" smtClean="0">
                <a:latin typeface="Century Gothic" panose="020B0502020202020204" pitchFamily="34" charset="0"/>
              </a:rPr>
              <a:t>N12,256,845</a:t>
            </a:r>
            <a:r>
              <a:rPr lang="en-US" sz="1600" dirty="0" smtClean="0">
                <a:latin typeface="Century Gothic" panose="020B0502020202020204" pitchFamily="34" charset="0"/>
              </a:rPr>
              <a:t> </a:t>
            </a:r>
            <a:r>
              <a:rPr lang="en-US" sz="1600" dirty="0">
                <a:latin typeface="Century Gothic" panose="020B0502020202020204" pitchFamily="34" charset="0"/>
              </a:rPr>
              <a:t>while </a:t>
            </a:r>
            <a:r>
              <a:rPr lang="en-US" sz="1600" b="1" dirty="0" smtClean="0">
                <a:latin typeface="Century Gothic" panose="020B0502020202020204" pitchFamily="34" charset="0"/>
              </a:rPr>
              <a:t>“Northwind Traders” </a:t>
            </a:r>
            <a:r>
              <a:rPr lang="en-US" sz="1600" dirty="0">
                <a:latin typeface="Century Gothic" panose="020B0502020202020204" pitchFamily="34" charset="0"/>
              </a:rPr>
              <a:t>was the least performing </a:t>
            </a:r>
            <a:r>
              <a:rPr lang="en-US" sz="1600" dirty="0" smtClean="0">
                <a:latin typeface="Century Gothic" panose="020B0502020202020204" pitchFamily="34" charset="0"/>
              </a:rPr>
              <a:t>Manufacturer </a:t>
            </a:r>
            <a:r>
              <a:rPr lang="en-US" sz="1600" dirty="0">
                <a:latin typeface="Century Gothic" panose="020B0502020202020204" pitchFamily="34" charset="0"/>
              </a:rPr>
              <a:t>with a total revenue of </a:t>
            </a:r>
            <a:r>
              <a:rPr lang="en-US" sz="1600" b="1" dirty="0" smtClean="0">
                <a:latin typeface="Century Gothic" panose="020B0502020202020204" pitchFamily="34" charset="0"/>
              </a:rPr>
              <a:t>N138,558</a:t>
            </a:r>
            <a:r>
              <a:rPr lang="en-US" sz="1600" dirty="0" smtClean="0">
                <a:latin typeface="Century Gothic" panose="020B0502020202020204" pitchFamily="34" charset="0"/>
              </a:rPr>
              <a:t>. </a:t>
            </a:r>
          </a:p>
          <a:p>
            <a:pPr algn="just"/>
            <a:endParaRPr lang="en-US" sz="1600" dirty="0">
              <a:latin typeface="Century Gothic" panose="020B0502020202020204" pitchFamily="34" charset="0"/>
            </a:endParaRPr>
          </a:p>
        </p:txBody>
      </p:sp>
      <p:sp>
        <p:nvSpPr>
          <p:cNvPr id="6" name="Rectangle 5"/>
          <p:cNvSpPr/>
          <p:nvPr/>
        </p:nvSpPr>
        <p:spPr>
          <a:xfrm>
            <a:off x="5421088" y="3656575"/>
            <a:ext cx="6096000" cy="1569660"/>
          </a:xfrm>
          <a:prstGeom prst="rect">
            <a:avLst/>
          </a:prstGeom>
        </p:spPr>
        <p:txBody>
          <a:bodyPr>
            <a:spAutoFit/>
          </a:bodyPr>
          <a:lstStyle/>
          <a:p>
            <a:pPr algn="just"/>
            <a:r>
              <a:rPr lang="en-US" sz="1600" dirty="0">
                <a:latin typeface="Century Gothic" panose="020B0502020202020204" pitchFamily="34" charset="0"/>
              </a:rPr>
              <a:t>In terms of profit,  </a:t>
            </a:r>
            <a:r>
              <a:rPr lang="en-US" sz="1600" b="1" dirty="0" smtClean="0">
                <a:latin typeface="Century Gothic" panose="020B0502020202020204" pitchFamily="34" charset="0"/>
              </a:rPr>
              <a:t>“Fabrikam” </a:t>
            </a:r>
            <a:r>
              <a:rPr lang="en-US" sz="1600" dirty="0" smtClean="0">
                <a:latin typeface="Century Gothic" panose="020B0502020202020204" pitchFamily="34" charset="0"/>
              </a:rPr>
              <a:t>led </a:t>
            </a:r>
            <a:r>
              <a:rPr lang="en-US" sz="1600" dirty="0">
                <a:latin typeface="Century Gothic" panose="020B0502020202020204" pitchFamily="34" charset="0"/>
              </a:rPr>
              <a:t>the way with a PAT of </a:t>
            </a:r>
            <a:r>
              <a:rPr lang="en-US" sz="1600" b="1" dirty="0" smtClean="0">
                <a:latin typeface="Century Gothic" panose="020B0502020202020204" pitchFamily="34" charset="0"/>
              </a:rPr>
              <a:t>N7,361,540</a:t>
            </a:r>
            <a:r>
              <a:rPr lang="en-US" sz="1600" dirty="0" smtClean="0">
                <a:latin typeface="Century Gothic" panose="020B0502020202020204" pitchFamily="34" charset="0"/>
              </a:rPr>
              <a:t> </a:t>
            </a:r>
            <a:r>
              <a:rPr lang="en-US" sz="1600" dirty="0">
                <a:latin typeface="Century Gothic" panose="020B0502020202020204" pitchFamily="34" charset="0"/>
              </a:rPr>
              <a:t>while </a:t>
            </a:r>
            <a:r>
              <a:rPr lang="en-US" sz="1600" b="1" dirty="0" smtClean="0">
                <a:latin typeface="Century Gothic" panose="020B0502020202020204" pitchFamily="34" charset="0"/>
              </a:rPr>
              <a:t>“Northwind Traders” </a:t>
            </a:r>
            <a:r>
              <a:rPr lang="en-US" sz="1600" dirty="0">
                <a:latin typeface="Century Gothic" panose="020B0502020202020204" pitchFamily="34" charset="0"/>
              </a:rPr>
              <a:t>made a PAT of </a:t>
            </a:r>
            <a:r>
              <a:rPr lang="en-US" sz="1600" b="1" dirty="0" smtClean="0">
                <a:latin typeface="Century Gothic" panose="020B0502020202020204" pitchFamily="34" charset="0"/>
              </a:rPr>
              <a:t>N75,514</a:t>
            </a:r>
            <a:r>
              <a:rPr lang="en-US" sz="1600" dirty="0" smtClean="0">
                <a:latin typeface="Century Gothic" panose="020B0502020202020204" pitchFamily="34" charset="0"/>
              </a:rPr>
              <a:t>. Looking at the profit margin, </a:t>
            </a:r>
            <a:r>
              <a:rPr lang="en-US" sz="1600" b="1" dirty="0" smtClean="0">
                <a:latin typeface="Century Gothic" panose="020B0502020202020204" pitchFamily="34" charset="0"/>
              </a:rPr>
              <a:t>“A. Datum” </a:t>
            </a:r>
            <a:r>
              <a:rPr lang="en-US" sz="1600" dirty="0" smtClean="0">
                <a:latin typeface="Century Gothic" panose="020B0502020202020204" pitchFamily="34" charset="0"/>
              </a:rPr>
              <a:t>recorded the highest profit margin with a profit margin of </a:t>
            </a:r>
            <a:r>
              <a:rPr lang="en-US" sz="1600" b="1" dirty="0" smtClean="0">
                <a:latin typeface="Century Gothic" panose="020B0502020202020204" pitchFamily="34" charset="0"/>
              </a:rPr>
              <a:t>59%</a:t>
            </a:r>
            <a:r>
              <a:rPr lang="en-US" sz="1600" dirty="0" smtClean="0">
                <a:latin typeface="Century Gothic" panose="020B0502020202020204" pitchFamily="34" charset="0"/>
              </a:rPr>
              <a:t> while </a:t>
            </a:r>
            <a:r>
              <a:rPr lang="en-US" sz="1600" b="1" dirty="0" smtClean="0">
                <a:latin typeface="Century Gothic" panose="020B0502020202020204" pitchFamily="34" charset="0"/>
              </a:rPr>
              <a:t>“Litware” </a:t>
            </a:r>
            <a:r>
              <a:rPr lang="en-US" sz="1600" dirty="0" smtClean="0">
                <a:latin typeface="Century Gothic" panose="020B0502020202020204" pitchFamily="34" charset="0"/>
              </a:rPr>
              <a:t>had the least profit margin with a profit margin of </a:t>
            </a:r>
            <a:r>
              <a:rPr lang="en-US" sz="1600" b="1" dirty="0" smtClean="0">
                <a:latin typeface="Century Gothic" panose="020B0502020202020204" pitchFamily="34" charset="0"/>
              </a:rPr>
              <a:t>51%</a:t>
            </a:r>
            <a:r>
              <a:rPr lang="en-US" sz="1600" dirty="0" smtClean="0">
                <a:latin typeface="Century Gothic" panose="020B0502020202020204" pitchFamily="34" charset="0"/>
              </a:rPr>
              <a:t>.</a:t>
            </a:r>
            <a:endParaRPr lang="en-US" sz="1600" dirty="0">
              <a:latin typeface="Century Gothic" panose="020B0502020202020204" pitchFamily="34" charset="0"/>
            </a:endParaRPr>
          </a:p>
        </p:txBody>
      </p:sp>
      <p:pic>
        <p:nvPicPr>
          <p:cNvPr id="3" name="Picture 2"/>
          <p:cNvPicPr>
            <a:picLocks noChangeAspect="1"/>
          </p:cNvPicPr>
          <p:nvPr/>
        </p:nvPicPr>
        <p:blipFill>
          <a:blip r:embed="rId2"/>
          <a:stretch>
            <a:fillRect/>
          </a:stretch>
        </p:blipFill>
        <p:spPr>
          <a:xfrm>
            <a:off x="182880" y="978515"/>
            <a:ext cx="4754777" cy="2017178"/>
          </a:xfrm>
          <a:prstGeom prst="rect">
            <a:avLst/>
          </a:prstGeom>
        </p:spPr>
      </p:pic>
      <p:pic>
        <p:nvPicPr>
          <p:cNvPr id="8" name="Picture 7"/>
          <p:cNvPicPr>
            <a:picLocks noChangeAspect="1"/>
          </p:cNvPicPr>
          <p:nvPr/>
        </p:nvPicPr>
        <p:blipFill>
          <a:blip r:embed="rId3"/>
          <a:stretch>
            <a:fillRect/>
          </a:stretch>
        </p:blipFill>
        <p:spPr>
          <a:xfrm>
            <a:off x="182880" y="3386380"/>
            <a:ext cx="4987417" cy="2571079"/>
          </a:xfrm>
          <a:prstGeom prst="rect">
            <a:avLst/>
          </a:prstGeom>
        </p:spPr>
      </p:pic>
    </p:spTree>
    <p:extLst>
      <p:ext uri="{BB962C8B-B14F-4D97-AF65-F5344CB8AC3E}">
        <p14:creationId xmlns:p14="http://schemas.microsoft.com/office/powerpoint/2010/main" val="36273493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684" y="21770"/>
            <a:ext cx="4016829" cy="587829"/>
          </a:xfrm>
        </p:spPr>
        <p:txBody>
          <a:bodyPr>
            <a:normAutofit fontScale="90000"/>
          </a:bodyPr>
          <a:lstStyle/>
          <a:p>
            <a:pPr algn="l"/>
            <a:r>
              <a:rPr lang="en-US" sz="4800" b="1" dirty="0" smtClean="0">
                <a:latin typeface="Century Gothic" panose="020B0502020202020204" pitchFamily="34" charset="0"/>
              </a:rPr>
              <a:t>KEY FINDINGS</a:t>
            </a:r>
            <a:endParaRPr lang="en-US" sz="4800" b="1" dirty="0">
              <a:latin typeface="Century Gothic" panose="020B0502020202020204" pitchFamily="34" charset="0"/>
            </a:endParaRPr>
          </a:p>
        </p:txBody>
      </p:sp>
      <p:pic>
        <p:nvPicPr>
          <p:cNvPr id="8" name="Picture 7"/>
          <p:cNvPicPr>
            <a:picLocks noChangeAspect="1"/>
          </p:cNvPicPr>
          <p:nvPr/>
        </p:nvPicPr>
        <p:blipFill>
          <a:blip r:embed="rId2"/>
          <a:stretch>
            <a:fillRect/>
          </a:stretch>
        </p:blipFill>
        <p:spPr>
          <a:xfrm>
            <a:off x="83684" y="1149348"/>
            <a:ext cx="5903461" cy="5786138"/>
          </a:xfrm>
          <a:prstGeom prst="rect">
            <a:avLst/>
          </a:prstGeom>
        </p:spPr>
      </p:pic>
      <p:sp>
        <p:nvSpPr>
          <p:cNvPr id="9" name="Subtitle 2"/>
          <p:cNvSpPr>
            <a:spLocks noGrp="1"/>
          </p:cNvSpPr>
          <p:nvPr>
            <p:ph type="subTitle" idx="1"/>
          </p:nvPr>
        </p:nvSpPr>
        <p:spPr>
          <a:xfrm>
            <a:off x="5987145" y="1439376"/>
            <a:ext cx="5998029" cy="1227626"/>
          </a:xfrm>
        </p:spPr>
        <p:txBody>
          <a:bodyPr>
            <a:noAutofit/>
          </a:bodyPr>
          <a:lstStyle/>
          <a:p>
            <a:pPr algn="just"/>
            <a:r>
              <a:rPr lang="en-US" sz="1600" dirty="0" smtClean="0">
                <a:latin typeface="Century Gothic" panose="020B0502020202020204" pitchFamily="34" charset="0"/>
              </a:rPr>
              <a:t>Looking at the hierarchy tree, the most performing product category in terms of revenue was </a:t>
            </a:r>
            <a:r>
              <a:rPr lang="en-US" sz="1600" b="1" dirty="0" smtClean="0">
                <a:latin typeface="Century Gothic" panose="020B0502020202020204" pitchFamily="34" charset="0"/>
              </a:rPr>
              <a:t>“Computers” </a:t>
            </a:r>
            <a:r>
              <a:rPr lang="en-US" sz="1600" dirty="0" smtClean="0">
                <a:latin typeface="Century Gothic" panose="020B0502020202020204" pitchFamily="34" charset="0"/>
              </a:rPr>
              <a:t>with a total revenue of N21,629,438.98. </a:t>
            </a:r>
            <a:endParaRPr lang="en-US" sz="1600" dirty="0">
              <a:latin typeface="Century Gothic" panose="020B0502020202020204" pitchFamily="34" charset="0"/>
            </a:endParaRPr>
          </a:p>
        </p:txBody>
      </p:sp>
      <p:sp>
        <p:nvSpPr>
          <p:cNvPr id="10" name="Title 1"/>
          <p:cNvSpPr txBox="1">
            <a:spLocks/>
          </p:cNvSpPr>
          <p:nvPr/>
        </p:nvSpPr>
        <p:spPr>
          <a:xfrm>
            <a:off x="40140" y="761998"/>
            <a:ext cx="4016829" cy="40277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b="1" dirty="0" smtClean="0">
                <a:latin typeface="Century Gothic" panose="020B0502020202020204" pitchFamily="34" charset="0"/>
              </a:rPr>
              <a:t>Product Category by Revenue</a:t>
            </a:r>
            <a:endParaRPr lang="en-US" sz="1800" b="1" dirty="0">
              <a:latin typeface="Century Gothic" panose="020B0502020202020204" pitchFamily="34" charset="0"/>
            </a:endParaRPr>
          </a:p>
        </p:txBody>
      </p:sp>
    </p:spTree>
    <p:extLst>
      <p:ext uri="{BB962C8B-B14F-4D97-AF65-F5344CB8AC3E}">
        <p14:creationId xmlns:p14="http://schemas.microsoft.com/office/powerpoint/2010/main" val="29759015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2"/>
          <p:cNvSpPr>
            <a:spLocks noGrp="1"/>
          </p:cNvSpPr>
          <p:nvPr>
            <p:ph type="subTitle" idx="1"/>
          </p:nvPr>
        </p:nvSpPr>
        <p:spPr>
          <a:xfrm>
            <a:off x="7249886" y="1341404"/>
            <a:ext cx="4855028" cy="1129653"/>
          </a:xfrm>
        </p:spPr>
        <p:txBody>
          <a:bodyPr>
            <a:noAutofit/>
          </a:bodyPr>
          <a:lstStyle/>
          <a:p>
            <a:pPr algn="just"/>
            <a:r>
              <a:rPr lang="en-US" sz="1600" dirty="0" smtClean="0">
                <a:latin typeface="Century Gothic" panose="020B0502020202020204" pitchFamily="34" charset="0"/>
              </a:rPr>
              <a:t>For the profit made by each product category, </a:t>
            </a:r>
            <a:r>
              <a:rPr lang="en-US" sz="1600" b="1" dirty="0" smtClean="0">
                <a:latin typeface="Century Gothic" panose="020B0502020202020204" pitchFamily="34" charset="0"/>
              </a:rPr>
              <a:t>“Computers” </a:t>
            </a:r>
            <a:r>
              <a:rPr lang="en-US" sz="1600" dirty="0" smtClean="0">
                <a:latin typeface="Century Gothic" panose="020B0502020202020204" pitchFamily="34" charset="0"/>
              </a:rPr>
              <a:t>recorded the highest profit with a profit of </a:t>
            </a:r>
            <a:r>
              <a:rPr lang="en-US" sz="1600" b="1" dirty="0" smtClean="0">
                <a:latin typeface="Century Gothic" panose="020B0502020202020204" pitchFamily="34" charset="0"/>
              </a:rPr>
              <a:t>N12,484,887</a:t>
            </a:r>
            <a:r>
              <a:rPr lang="en-US" sz="1600" dirty="0" smtClean="0">
                <a:latin typeface="Century Gothic" panose="020B0502020202020204" pitchFamily="34" charset="0"/>
              </a:rPr>
              <a:t> and </a:t>
            </a:r>
            <a:r>
              <a:rPr lang="en-US" sz="1600" b="1" dirty="0" smtClean="0">
                <a:latin typeface="Century Gothic" panose="020B0502020202020204" pitchFamily="34" charset="0"/>
              </a:rPr>
              <a:t>“Audio” </a:t>
            </a:r>
            <a:r>
              <a:rPr lang="en-US" sz="1600" dirty="0" smtClean="0">
                <a:latin typeface="Century Gothic" panose="020B0502020202020204" pitchFamily="34" charset="0"/>
              </a:rPr>
              <a:t>recorded the lowest profit with a profit of </a:t>
            </a:r>
            <a:r>
              <a:rPr lang="en-US" sz="1600" b="1" dirty="0" smtClean="0">
                <a:latin typeface="Century Gothic" panose="020B0502020202020204" pitchFamily="34" charset="0"/>
              </a:rPr>
              <a:t>N592,094</a:t>
            </a:r>
            <a:r>
              <a:rPr lang="en-US" sz="1600" dirty="0" smtClean="0">
                <a:latin typeface="Century Gothic" panose="020B0502020202020204" pitchFamily="34" charset="0"/>
              </a:rPr>
              <a:t>.</a:t>
            </a:r>
          </a:p>
          <a:p>
            <a:pPr algn="just"/>
            <a:endParaRPr lang="en-US" sz="1600" dirty="0">
              <a:latin typeface="Century Gothic" panose="020B0502020202020204" pitchFamily="34" charset="0"/>
            </a:endParaRPr>
          </a:p>
        </p:txBody>
      </p:sp>
      <p:pic>
        <p:nvPicPr>
          <p:cNvPr id="4" name="Picture 3"/>
          <p:cNvPicPr>
            <a:picLocks noChangeAspect="1"/>
          </p:cNvPicPr>
          <p:nvPr/>
        </p:nvPicPr>
        <p:blipFill>
          <a:blip r:embed="rId2"/>
          <a:stretch>
            <a:fillRect/>
          </a:stretch>
        </p:blipFill>
        <p:spPr>
          <a:xfrm>
            <a:off x="107492" y="1164093"/>
            <a:ext cx="6881137" cy="5454421"/>
          </a:xfrm>
          <a:prstGeom prst="rect">
            <a:avLst/>
          </a:prstGeom>
        </p:spPr>
      </p:pic>
      <p:sp>
        <p:nvSpPr>
          <p:cNvPr id="10" name="Title 1"/>
          <p:cNvSpPr>
            <a:spLocks noGrp="1"/>
          </p:cNvSpPr>
          <p:nvPr>
            <p:ph type="ctrTitle"/>
          </p:nvPr>
        </p:nvSpPr>
        <p:spPr>
          <a:xfrm>
            <a:off x="83684" y="21770"/>
            <a:ext cx="4016829" cy="587829"/>
          </a:xfrm>
        </p:spPr>
        <p:txBody>
          <a:bodyPr>
            <a:normAutofit fontScale="90000"/>
          </a:bodyPr>
          <a:lstStyle/>
          <a:p>
            <a:pPr algn="l"/>
            <a:r>
              <a:rPr lang="en-US" sz="4800" b="1" dirty="0" smtClean="0">
                <a:latin typeface="Century Gothic" panose="020B0502020202020204" pitchFamily="34" charset="0"/>
              </a:rPr>
              <a:t>KEY FINDINGS</a:t>
            </a:r>
            <a:endParaRPr lang="en-US" sz="4800" b="1" dirty="0">
              <a:latin typeface="Century Gothic" panose="020B0502020202020204" pitchFamily="34" charset="0"/>
            </a:endParaRPr>
          </a:p>
        </p:txBody>
      </p:sp>
      <p:sp>
        <p:nvSpPr>
          <p:cNvPr id="11" name="Title 1"/>
          <p:cNvSpPr txBox="1">
            <a:spLocks/>
          </p:cNvSpPr>
          <p:nvPr/>
        </p:nvSpPr>
        <p:spPr>
          <a:xfrm>
            <a:off x="40140" y="761998"/>
            <a:ext cx="4016829" cy="40277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b="1" dirty="0" smtClean="0">
                <a:latin typeface="Century Gothic" panose="020B0502020202020204" pitchFamily="34" charset="0"/>
              </a:rPr>
              <a:t>Product Category by Profit</a:t>
            </a:r>
            <a:endParaRPr lang="en-US" sz="1800" b="1" dirty="0">
              <a:latin typeface="Century Gothic" panose="020B0502020202020204" pitchFamily="34" charset="0"/>
            </a:endParaRPr>
          </a:p>
        </p:txBody>
      </p:sp>
    </p:spTree>
    <p:extLst>
      <p:ext uri="{BB962C8B-B14F-4D97-AF65-F5344CB8AC3E}">
        <p14:creationId xmlns:p14="http://schemas.microsoft.com/office/powerpoint/2010/main" val="31228716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2"/>
          <p:cNvSpPr>
            <a:spLocks noGrp="1"/>
          </p:cNvSpPr>
          <p:nvPr>
            <p:ph type="subTitle" idx="1"/>
          </p:nvPr>
        </p:nvSpPr>
        <p:spPr>
          <a:xfrm>
            <a:off x="6781799" y="2201376"/>
            <a:ext cx="4985657" cy="1184081"/>
          </a:xfrm>
        </p:spPr>
        <p:txBody>
          <a:bodyPr>
            <a:noAutofit/>
          </a:bodyPr>
          <a:lstStyle/>
          <a:p>
            <a:pPr algn="just"/>
            <a:r>
              <a:rPr lang="en-US" sz="1600" dirty="0" smtClean="0">
                <a:latin typeface="Century Gothic" panose="020B0502020202020204" pitchFamily="34" charset="0"/>
              </a:rPr>
              <a:t>For the profit margin made by each product category, </a:t>
            </a:r>
            <a:r>
              <a:rPr lang="en-US" sz="1600" b="1" dirty="0" smtClean="0">
                <a:latin typeface="Century Gothic" panose="020B0502020202020204" pitchFamily="34" charset="0"/>
              </a:rPr>
              <a:t>“Camera” </a:t>
            </a:r>
            <a:r>
              <a:rPr lang="en-US" sz="1600" dirty="0" smtClean="0">
                <a:latin typeface="Century Gothic" panose="020B0502020202020204" pitchFamily="34" charset="0"/>
              </a:rPr>
              <a:t>and </a:t>
            </a:r>
            <a:r>
              <a:rPr lang="en-US" sz="1600" b="1" dirty="0" smtClean="0">
                <a:latin typeface="Century Gothic" panose="020B0502020202020204" pitchFamily="34" charset="0"/>
              </a:rPr>
              <a:t>“Music, Movies and Audio Books”</a:t>
            </a:r>
            <a:r>
              <a:rPr lang="en-US" sz="1600" dirty="0" smtClean="0">
                <a:latin typeface="Century Gothic" panose="020B0502020202020204" pitchFamily="34" charset="0"/>
              </a:rPr>
              <a:t> recorded the highest profit margin with a profit margin of </a:t>
            </a:r>
            <a:r>
              <a:rPr lang="en-US" sz="1600" b="1" dirty="0" smtClean="0">
                <a:latin typeface="Century Gothic" panose="020B0502020202020204" pitchFamily="34" charset="0"/>
              </a:rPr>
              <a:t>57%</a:t>
            </a:r>
            <a:r>
              <a:rPr lang="en-US" sz="1600" dirty="0" smtClean="0">
                <a:latin typeface="Century Gothic" panose="020B0502020202020204" pitchFamily="34" charset="0"/>
              </a:rPr>
              <a:t> and </a:t>
            </a:r>
            <a:r>
              <a:rPr lang="en-US" sz="1600" b="1" dirty="0" smtClean="0">
                <a:latin typeface="Century Gothic" panose="020B0502020202020204" pitchFamily="34" charset="0"/>
              </a:rPr>
              <a:t>“TV and Video” </a:t>
            </a:r>
            <a:r>
              <a:rPr lang="en-US" sz="1600" dirty="0" smtClean="0">
                <a:latin typeface="Century Gothic" panose="020B0502020202020204" pitchFamily="34" charset="0"/>
              </a:rPr>
              <a:t>recorded the lowest profit margin with a profit margin of </a:t>
            </a:r>
            <a:r>
              <a:rPr lang="en-US" sz="1600" b="1" dirty="0" smtClean="0">
                <a:latin typeface="Century Gothic" panose="020B0502020202020204" pitchFamily="34" charset="0"/>
              </a:rPr>
              <a:t>52%</a:t>
            </a:r>
            <a:r>
              <a:rPr lang="en-US" sz="1600" dirty="0" smtClean="0">
                <a:latin typeface="Century Gothic" panose="020B0502020202020204" pitchFamily="34" charset="0"/>
              </a:rPr>
              <a:t>.</a:t>
            </a:r>
          </a:p>
          <a:p>
            <a:pPr algn="just"/>
            <a:endParaRPr lang="en-US" sz="1600" dirty="0">
              <a:latin typeface="Century Gothic" panose="020B0502020202020204" pitchFamily="34" charset="0"/>
            </a:endParaRPr>
          </a:p>
        </p:txBody>
      </p:sp>
      <p:sp>
        <p:nvSpPr>
          <p:cNvPr id="7" name="Title 1"/>
          <p:cNvSpPr>
            <a:spLocks noGrp="1"/>
          </p:cNvSpPr>
          <p:nvPr>
            <p:ph type="ctrTitle"/>
          </p:nvPr>
        </p:nvSpPr>
        <p:spPr>
          <a:xfrm>
            <a:off x="83684" y="21770"/>
            <a:ext cx="4016829" cy="587829"/>
          </a:xfrm>
        </p:spPr>
        <p:txBody>
          <a:bodyPr>
            <a:normAutofit fontScale="90000"/>
          </a:bodyPr>
          <a:lstStyle/>
          <a:p>
            <a:pPr algn="l"/>
            <a:r>
              <a:rPr lang="en-US" sz="4800" b="1" dirty="0" smtClean="0">
                <a:latin typeface="Century Gothic" panose="020B0502020202020204" pitchFamily="34" charset="0"/>
              </a:rPr>
              <a:t>KEY FINDINGS</a:t>
            </a:r>
            <a:endParaRPr lang="en-US" sz="4800" b="1" dirty="0">
              <a:latin typeface="Century Gothic" panose="020B0502020202020204" pitchFamily="34" charset="0"/>
            </a:endParaRPr>
          </a:p>
        </p:txBody>
      </p:sp>
      <p:sp>
        <p:nvSpPr>
          <p:cNvPr id="8" name="Title 1"/>
          <p:cNvSpPr txBox="1">
            <a:spLocks/>
          </p:cNvSpPr>
          <p:nvPr/>
        </p:nvSpPr>
        <p:spPr>
          <a:xfrm>
            <a:off x="40140" y="761998"/>
            <a:ext cx="4016829" cy="40277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800" b="1" dirty="0" smtClean="0">
                <a:latin typeface="Century Gothic" panose="020B0502020202020204" pitchFamily="34" charset="0"/>
              </a:rPr>
              <a:t>Product Category by Profit Margin</a:t>
            </a:r>
            <a:endParaRPr lang="en-US" sz="1800" b="1" dirty="0">
              <a:latin typeface="Century Gothic" panose="020B0502020202020204" pitchFamily="34" charset="0"/>
            </a:endParaRPr>
          </a:p>
        </p:txBody>
      </p:sp>
      <p:pic>
        <p:nvPicPr>
          <p:cNvPr id="6" name="Picture 5"/>
          <p:cNvPicPr>
            <a:picLocks noChangeAspect="1"/>
          </p:cNvPicPr>
          <p:nvPr/>
        </p:nvPicPr>
        <p:blipFill>
          <a:blip r:embed="rId2"/>
          <a:stretch>
            <a:fillRect/>
          </a:stretch>
        </p:blipFill>
        <p:spPr>
          <a:xfrm>
            <a:off x="414337" y="1436233"/>
            <a:ext cx="5594577" cy="5008110"/>
          </a:xfrm>
          <a:prstGeom prst="rect">
            <a:avLst/>
          </a:prstGeom>
        </p:spPr>
      </p:pic>
    </p:spTree>
    <p:extLst>
      <p:ext uri="{BB962C8B-B14F-4D97-AF65-F5344CB8AC3E}">
        <p14:creationId xmlns:p14="http://schemas.microsoft.com/office/powerpoint/2010/main" val="25712658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587829"/>
          </a:xfrm>
        </p:spPr>
        <p:txBody>
          <a:bodyPr>
            <a:normAutofit fontScale="90000"/>
          </a:bodyPr>
          <a:lstStyle/>
          <a:p>
            <a:pPr algn="l"/>
            <a:r>
              <a:rPr lang="en-US" sz="4800" b="1" dirty="0" smtClean="0">
                <a:latin typeface="Century Gothic" panose="020B0502020202020204" pitchFamily="34" charset="0"/>
              </a:rPr>
              <a:t>KEY FINDINGS</a:t>
            </a:r>
            <a:endParaRPr lang="en-US" sz="4800" b="1" dirty="0">
              <a:latin typeface="Century Gothic" panose="020B0502020202020204" pitchFamily="34" charset="0"/>
            </a:endParaRPr>
          </a:p>
        </p:txBody>
      </p:sp>
      <p:sp>
        <p:nvSpPr>
          <p:cNvPr id="5" name="Subtitle 2"/>
          <p:cNvSpPr>
            <a:spLocks noGrp="1"/>
          </p:cNvSpPr>
          <p:nvPr>
            <p:ph type="subTitle" idx="1"/>
          </p:nvPr>
        </p:nvSpPr>
        <p:spPr>
          <a:xfrm>
            <a:off x="5421088" y="1450261"/>
            <a:ext cx="5998029" cy="1227626"/>
          </a:xfrm>
        </p:spPr>
        <p:txBody>
          <a:bodyPr>
            <a:noAutofit/>
          </a:bodyPr>
          <a:lstStyle/>
          <a:p>
            <a:pPr algn="just"/>
            <a:r>
              <a:rPr lang="en-US" sz="1600" dirty="0">
                <a:latin typeface="Century Gothic" panose="020B0502020202020204" pitchFamily="34" charset="0"/>
              </a:rPr>
              <a:t>For the </a:t>
            </a:r>
            <a:r>
              <a:rPr lang="en-US" sz="1600" dirty="0" smtClean="0">
                <a:latin typeface="Century Gothic" panose="020B0502020202020204" pitchFamily="34" charset="0"/>
              </a:rPr>
              <a:t>revenue contribution by each sales channel, sales from </a:t>
            </a:r>
            <a:r>
              <a:rPr lang="en-US" sz="1600" b="1" dirty="0" smtClean="0">
                <a:latin typeface="Century Gothic" panose="020B0502020202020204" pitchFamily="34" charset="0"/>
              </a:rPr>
              <a:t>“Store” </a:t>
            </a:r>
            <a:r>
              <a:rPr lang="en-US" sz="1600" dirty="0" smtClean="0">
                <a:latin typeface="Century Gothic" panose="020B0502020202020204" pitchFamily="34" charset="0"/>
              </a:rPr>
              <a:t>recorded the highest revenue with a total revenue of </a:t>
            </a:r>
            <a:r>
              <a:rPr lang="en-US" sz="1600" b="1" dirty="0" smtClean="0">
                <a:latin typeface="Century Gothic" panose="020B0502020202020204" pitchFamily="34" charset="0"/>
              </a:rPr>
              <a:t>N32,194,299</a:t>
            </a:r>
            <a:r>
              <a:rPr lang="en-US" sz="1600" dirty="0" smtClean="0">
                <a:latin typeface="Century Gothic" panose="020B0502020202020204" pitchFamily="34" charset="0"/>
              </a:rPr>
              <a:t> representing </a:t>
            </a:r>
            <a:r>
              <a:rPr lang="en-US" sz="1600" b="1" dirty="0" smtClean="0">
                <a:latin typeface="Century Gothic" panose="020B0502020202020204" pitchFamily="34" charset="0"/>
              </a:rPr>
              <a:t>57%</a:t>
            </a:r>
            <a:r>
              <a:rPr lang="en-US" sz="1600" dirty="0" smtClean="0">
                <a:latin typeface="Century Gothic" panose="020B0502020202020204" pitchFamily="34" charset="0"/>
              </a:rPr>
              <a:t> of the total revenue. The least performing sales channel was </a:t>
            </a:r>
            <a:r>
              <a:rPr lang="en-US" sz="1600" b="1" dirty="0" smtClean="0">
                <a:latin typeface="Century Gothic" panose="020B0502020202020204" pitchFamily="34" charset="0"/>
              </a:rPr>
              <a:t>“Mobile outlet”</a:t>
            </a:r>
            <a:r>
              <a:rPr lang="en-US" sz="1600" dirty="0" smtClean="0">
                <a:latin typeface="Century Gothic" panose="020B0502020202020204" pitchFamily="34" charset="0"/>
              </a:rPr>
              <a:t> with a total revenue of </a:t>
            </a:r>
            <a:r>
              <a:rPr lang="en-US" sz="1600" b="1" dirty="0" smtClean="0">
                <a:latin typeface="Century Gothic" panose="020B0502020202020204" pitchFamily="34" charset="0"/>
              </a:rPr>
              <a:t>N5,060,127</a:t>
            </a:r>
            <a:r>
              <a:rPr lang="en-US" sz="1600" dirty="0" smtClean="0">
                <a:latin typeface="Century Gothic" panose="020B0502020202020204" pitchFamily="34" charset="0"/>
              </a:rPr>
              <a:t> which represents </a:t>
            </a:r>
            <a:r>
              <a:rPr lang="en-US" sz="1600" b="1" dirty="0" smtClean="0">
                <a:latin typeface="Century Gothic" panose="020B0502020202020204" pitchFamily="34" charset="0"/>
              </a:rPr>
              <a:t>9% </a:t>
            </a:r>
            <a:r>
              <a:rPr lang="en-US" sz="1600" dirty="0" smtClean="0">
                <a:latin typeface="Century Gothic" panose="020B0502020202020204" pitchFamily="34" charset="0"/>
              </a:rPr>
              <a:t>of the total revenue.</a:t>
            </a:r>
            <a:endParaRPr lang="en-US" sz="1600" dirty="0">
              <a:latin typeface="Century Gothic" panose="020B0502020202020204" pitchFamily="34" charset="0"/>
            </a:endParaRPr>
          </a:p>
        </p:txBody>
      </p:sp>
      <p:sp>
        <p:nvSpPr>
          <p:cNvPr id="6" name="Rectangle 5"/>
          <p:cNvSpPr/>
          <p:nvPr/>
        </p:nvSpPr>
        <p:spPr>
          <a:xfrm>
            <a:off x="5421088" y="4266176"/>
            <a:ext cx="6096000" cy="830997"/>
          </a:xfrm>
          <a:prstGeom prst="rect">
            <a:avLst/>
          </a:prstGeom>
        </p:spPr>
        <p:txBody>
          <a:bodyPr>
            <a:spAutoFit/>
          </a:bodyPr>
          <a:lstStyle/>
          <a:p>
            <a:pPr algn="just"/>
            <a:r>
              <a:rPr lang="en-US" sz="1600" dirty="0">
                <a:latin typeface="Century Gothic" panose="020B0502020202020204" pitchFamily="34" charset="0"/>
              </a:rPr>
              <a:t>In terms of profit,  </a:t>
            </a:r>
            <a:r>
              <a:rPr lang="en-US" sz="1600" b="1" dirty="0" smtClean="0">
                <a:latin typeface="Century Gothic" panose="020B0502020202020204" pitchFamily="34" charset="0"/>
              </a:rPr>
              <a:t>“Store” </a:t>
            </a:r>
            <a:r>
              <a:rPr lang="en-US" sz="1600" dirty="0" smtClean="0">
                <a:latin typeface="Century Gothic" panose="020B0502020202020204" pitchFamily="34" charset="0"/>
              </a:rPr>
              <a:t>led </a:t>
            </a:r>
            <a:r>
              <a:rPr lang="en-US" sz="1600" dirty="0">
                <a:latin typeface="Century Gothic" panose="020B0502020202020204" pitchFamily="34" charset="0"/>
              </a:rPr>
              <a:t>the way with a PAT of </a:t>
            </a:r>
            <a:r>
              <a:rPr lang="en-US" sz="1600" b="1" dirty="0" smtClean="0">
                <a:latin typeface="Century Gothic" panose="020B0502020202020204" pitchFamily="34" charset="0"/>
              </a:rPr>
              <a:t>N18,522,931</a:t>
            </a:r>
            <a:r>
              <a:rPr lang="en-US" sz="1600" dirty="0" smtClean="0">
                <a:latin typeface="Century Gothic" panose="020B0502020202020204" pitchFamily="34" charset="0"/>
              </a:rPr>
              <a:t> </a:t>
            </a:r>
            <a:r>
              <a:rPr lang="en-US" sz="1600" dirty="0">
                <a:latin typeface="Century Gothic" panose="020B0502020202020204" pitchFamily="34" charset="0"/>
              </a:rPr>
              <a:t>while </a:t>
            </a:r>
            <a:r>
              <a:rPr lang="en-US" sz="1600" b="1" dirty="0" smtClean="0">
                <a:latin typeface="Century Gothic" panose="020B0502020202020204" pitchFamily="34" charset="0"/>
              </a:rPr>
              <a:t>“Mobile Outlet” </a:t>
            </a:r>
            <a:r>
              <a:rPr lang="en-US" sz="1600" dirty="0">
                <a:latin typeface="Century Gothic" panose="020B0502020202020204" pitchFamily="34" charset="0"/>
              </a:rPr>
              <a:t>made a PAT of </a:t>
            </a:r>
            <a:r>
              <a:rPr lang="en-US" sz="1600" b="1" dirty="0" smtClean="0">
                <a:latin typeface="Century Gothic" panose="020B0502020202020204" pitchFamily="34" charset="0"/>
              </a:rPr>
              <a:t>N2,955,730</a:t>
            </a:r>
            <a:r>
              <a:rPr lang="en-US" sz="1600" dirty="0" smtClean="0">
                <a:latin typeface="Century Gothic" panose="020B0502020202020204" pitchFamily="34" charset="0"/>
              </a:rPr>
              <a:t>. </a:t>
            </a:r>
            <a:endParaRPr lang="en-US" sz="1600" dirty="0">
              <a:latin typeface="Century Gothic" panose="020B0502020202020204" pitchFamily="34" charset="0"/>
            </a:endParaRPr>
          </a:p>
        </p:txBody>
      </p:sp>
      <p:pic>
        <p:nvPicPr>
          <p:cNvPr id="8" name="Picture 7"/>
          <p:cNvPicPr>
            <a:picLocks noChangeAspect="1"/>
          </p:cNvPicPr>
          <p:nvPr/>
        </p:nvPicPr>
        <p:blipFill>
          <a:blip r:embed="rId2"/>
          <a:stretch>
            <a:fillRect/>
          </a:stretch>
        </p:blipFill>
        <p:spPr>
          <a:xfrm>
            <a:off x="400478" y="877660"/>
            <a:ext cx="3353481" cy="2235654"/>
          </a:xfrm>
          <a:prstGeom prst="rect">
            <a:avLst/>
          </a:prstGeom>
        </p:spPr>
      </p:pic>
      <p:pic>
        <p:nvPicPr>
          <p:cNvPr id="10" name="Picture 9"/>
          <p:cNvPicPr>
            <a:picLocks noChangeAspect="1"/>
          </p:cNvPicPr>
          <p:nvPr/>
        </p:nvPicPr>
        <p:blipFill>
          <a:blip r:embed="rId3"/>
          <a:stretch>
            <a:fillRect/>
          </a:stretch>
        </p:blipFill>
        <p:spPr>
          <a:xfrm>
            <a:off x="472456" y="3602073"/>
            <a:ext cx="3281503" cy="2901744"/>
          </a:xfrm>
          <a:prstGeom prst="rect">
            <a:avLst/>
          </a:prstGeom>
        </p:spPr>
      </p:pic>
    </p:spTree>
    <p:extLst>
      <p:ext uri="{BB962C8B-B14F-4D97-AF65-F5344CB8AC3E}">
        <p14:creationId xmlns:p14="http://schemas.microsoft.com/office/powerpoint/2010/main" val="20772455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87085" y="634391"/>
            <a:ext cx="1273629" cy="461665"/>
          </a:xfrm>
          <a:prstGeom prst="rect">
            <a:avLst/>
          </a:prstGeom>
        </p:spPr>
        <p:txBody>
          <a:bodyPr wrap="square">
            <a:spAutoFit/>
          </a:bodyPr>
          <a:lstStyle/>
          <a:p>
            <a:pPr algn="just"/>
            <a:r>
              <a:rPr lang="en-US" sz="2400" b="1" dirty="0" smtClean="0">
                <a:latin typeface="Century Gothic" panose="020B0502020202020204" pitchFamily="34" charset="0"/>
              </a:rPr>
              <a:t>AUDIO</a:t>
            </a:r>
            <a:endParaRPr lang="en-US" sz="2400" b="1" dirty="0">
              <a:latin typeface="Century Gothic" panose="020B0502020202020204" pitchFamily="34" charset="0"/>
            </a:endParaRPr>
          </a:p>
        </p:txBody>
      </p:sp>
      <p:sp>
        <p:nvSpPr>
          <p:cNvPr id="13" name="Rectangle 12"/>
          <p:cNvSpPr/>
          <p:nvPr/>
        </p:nvSpPr>
        <p:spPr>
          <a:xfrm>
            <a:off x="265848" y="3461652"/>
            <a:ext cx="2477352" cy="830997"/>
          </a:xfrm>
          <a:prstGeom prst="rect">
            <a:avLst/>
          </a:prstGeom>
        </p:spPr>
        <p:txBody>
          <a:bodyPr wrap="square">
            <a:spAutoFit/>
          </a:bodyPr>
          <a:lstStyle/>
          <a:p>
            <a:pPr algn="just"/>
            <a:r>
              <a:rPr lang="en-US" sz="2400" b="1" dirty="0" smtClean="0">
                <a:latin typeface="Century Gothic" panose="020B0502020202020204" pitchFamily="34" charset="0"/>
              </a:rPr>
              <a:t>CAMERAS AND CAMCODERS</a:t>
            </a:r>
            <a:endParaRPr lang="en-US" sz="2400" b="1" dirty="0">
              <a:latin typeface="Century Gothic" panose="020B0502020202020204" pitchFamily="34" charset="0"/>
            </a:endParaRPr>
          </a:p>
        </p:txBody>
      </p:sp>
      <p:pic>
        <p:nvPicPr>
          <p:cNvPr id="16" name="Picture 15"/>
          <p:cNvPicPr>
            <a:picLocks noChangeAspect="1"/>
          </p:cNvPicPr>
          <p:nvPr/>
        </p:nvPicPr>
        <p:blipFill>
          <a:blip r:embed="rId2"/>
          <a:stretch>
            <a:fillRect/>
          </a:stretch>
        </p:blipFill>
        <p:spPr>
          <a:xfrm>
            <a:off x="7882618" y="281910"/>
            <a:ext cx="4309382" cy="1129732"/>
          </a:xfrm>
          <a:prstGeom prst="rect">
            <a:avLst/>
          </a:prstGeom>
        </p:spPr>
      </p:pic>
      <p:pic>
        <p:nvPicPr>
          <p:cNvPr id="17" name="Picture 16"/>
          <p:cNvPicPr>
            <a:picLocks noChangeAspect="1"/>
          </p:cNvPicPr>
          <p:nvPr/>
        </p:nvPicPr>
        <p:blipFill>
          <a:blip r:embed="rId3"/>
          <a:stretch>
            <a:fillRect/>
          </a:stretch>
        </p:blipFill>
        <p:spPr>
          <a:xfrm>
            <a:off x="7992987" y="3461652"/>
            <a:ext cx="4199013" cy="1158963"/>
          </a:xfrm>
          <a:prstGeom prst="rect">
            <a:avLst/>
          </a:prstGeom>
        </p:spPr>
      </p:pic>
      <p:pic>
        <p:nvPicPr>
          <p:cNvPr id="18" name="Picture 17"/>
          <p:cNvPicPr>
            <a:picLocks noChangeAspect="1"/>
          </p:cNvPicPr>
          <p:nvPr/>
        </p:nvPicPr>
        <p:blipFill>
          <a:blip r:embed="rId4"/>
          <a:stretch>
            <a:fillRect/>
          </a:stretch>
        </p:blipFill>
        <p:spPr>
          <a:xfrm>
            <a:off x="2657474" y="559788"/>
            <a:ext cx="4429125" cy="2694115"/>
          </a:xfrm>
          <a:prstGeom prst="rect">
            <a:avLst/>
          </a:prstGeom>
        </p:spPr>
      </p:pic>
      <p:pic>
        <p:nvPicPr>
          <p:cNvPr id="19" name="Picture 18"/>
          <p:cNvPicPr>
            <a:picLocks noChangeAspect="1"/>
          </p:cNvPicPr>
          <p:nvPr/>
        </p:nvPicPr>
        <p:blipFill>
          <a:blip r:embed="rId5"/>
          <a:stretch>
            <a:fillRect/>
          </a:stretch>
        </p:blipFill>
        <p:spPr>
          <a:xfrm>
            <a:off x="2899680" y="3746726"/>
            <a:ext cx="4882485" cy="3111273"/>
          </a:xfrm>
          <a:prstGeom prst="rect">
            <a:avLst/>
          </a:prstGeom>
        </p:spPr>
      </p:pic>
      <p:sp>
        <p:nvSpPr>
          <p:cNvPr id="21" name="Title 1"/>
          <p:cNvSpPr txBox="1">
            <a:spLocks/>
          </p:cNvSpPr>
          <p:nvPr/>
        </p:nvSpPr>
        <p:spPr>
          <a:xfrm>
            <a:off x="0" y="0"/>
            <a:ext cx="7578968" cy="514238"/>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smtClean="0">
                <a:latin typeface="Century Gothic" panose="020B0502020202020204" pitchFamily="34" charset="0"/>
              </a:rPr>
              <a:t>SALES ANALYSIS FOR EACH PRODUCT CATEGORY </a:t>
            </a:r>
            <a:endParaRPr lang="en-US" sz="2800" b="1" dirty="0">
              <a:latin typeface="Century Gothic" panose="020B0502020202020204" pitchFamily="34" charset="0"/>
            </a:endParaRPr>
          </a:p>
        </p:txBody>
      </p:sp>
    </p:spTree>
    <p:extLst>
      <p:ext uri="{BB962C8B-B14F-4D97-AF65-F5344CB8AC3E}">
        <p14:creationId xmlns:p14="http://schemas.microsoft.com/office/powerpoint/2010/main" val="22552478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87085" y="634391"/>
            <a:ext cx="2242458" cy="461665"/>
          </a:xfrm>
          <a:prstGeom prst="rect">
            <a:avLst/>
          </a:prstGeom>
        </p:spPr>
        <p:txBody>
          <a:bodyPr wrap="square">
            <a:spAutoFit/>
          </a:bodyPr>
          <a:lstStyle/>
          <a:p>
            <a:pPr algn="just"/>
            <a:r>
              <a:rPr lang="en-US" sz="2400" b="1" dirty="0" smtClean="0">
                <a:latin typeface="Century Gothic" panose="020B0502020202020204" pitchFamily="34" charset="0"/>
              </a:rPr>
              <a:t>CELL PHONES</a:t>
            </a:r>
            <a:endParaRPr lang="en-US" sz="2400" b="1" dirty="0">
              <a:latin typeface="Century Gothic" panose="020B0502020202020204" pitchFamily="34" charset="0"/>
            </a:endParaRPr>
          </a:p>
        </p:txBody>
      </p:sp>
      <p:sp>
        <p:nvSpPr>
          <p:cNvPr id="13" name="Rectangle 12"/>
          <p:cNvSpPr/>
          <p:nvPr/>
        </p:nvSpPr>
        <p:spPr>
          <a:xfrm>
            <a:off x="265848" y="3461652"/>
            <a:ext cx="2477352" cy="461665"/>
          </a:xfrm>
          <a:prstGeom prst="rect">
            <a:avLst/>
          </a:prstGeom>
        </p:spPr>
        <p:txBody>
          <a:bodyPr wrap="square">
            <a:spAutoFit/>
          </a:bodyPr>
          <a:lstStyle/>
          <a:p>
            <a:pPr algn="just"/>
            <a:r>
              <a:rPr lang="en-US" sz="2400" b="1" dirty="0" smtClean="0">
                <a:latin typeface="Century Gothic" panose="020B0502020202020204" pitchFamily="34" charset="0"/>
              </a:rPr>
              <a:t>COMPUTERS</a:t>
            </a:r>
            <a:endParaRPr lang="en-US" sz="2400" b="1" dirty="0">
              <a:latin typeface="Century Gothic" panose="020B0502020202020204" pitchFamily="34" charset="0"/>
            </a:endParaRPr>
          </a:p>
        </p:txBody>
      </p:sp>
      <p:pic>
        <p:nvPicPr>
          <p:cNvPr id="4" name="Picture 3"/>
          <p:cNvPicPr>
            <a:picLocks noChangeAspect="1"/>
          </p:cNvPicPr>
          <p:nvPr/>
        </p:nvPicPr>
        <p:blipFill>
          <a:blip r:embed="rId2"/>
          <a:stretch>
            <a:fillRect/>
          </a:stretch>
        </p:blipFill>
        <p:spPr>
          <a:xfrm>
            <a:off x="8334376" y="360449"/>
            <a:ext cx="3857624" cy="1009548"/>
          </a:xfrm>
          <a:prstGeom prst="rect">
            <a:avLst/>
          </a:prstGeom>
        </p:spPr>
      </p:pic>
      <p:pic>
        <p:nvPicPr>
          <p:cNvPr id="5" name="Picture 4"/>
          <p:cNvPicPr>
            <a:picLocks noChangeAspect="1"/>
          </p:cNvPicPr>
          <p:nvPr/>
        </p:nvPicPr>
        <p:blipFill>
          <a:blip r:embed="rId3"/>
          <a:stretch>
            <a:fillRect/>
          </a:stretch>
        </p:blipFill>
        <p:spPr>
          <a:xfrm>
            <a:off x="8334376" y="3843393"/>
            <a:ext cx="3852862" cy="1010452"/>
          </a:xfrm>
          <a:prstGeom prst="rect">
            <a:avLst/>
          </a:prstGeom>
        </p:spPr>
      </p:pic>
      <p:pic>
        <p:nvPicPr>
          <p:cNvPr id="6" name="Picture 5"/>
          <p:cNvPicPr>
            <a:picLocks noChangeAspect="1"/>
          </p:cNvPicPr>
          <p:nvPr/>
        </p:nvPicPr>
        <p:blipFill>
          <a:blip r:embed="rId4"/>
          <a:stretch>
            <a:fillRect/>
          </a:stretch>
        </p:blipFill>
        <p:spPr>
          <a:xfrm>
            <a:off x="3300413" y="799908"/>
            <a:ext cx="4292410" cy="2748834"/>
          </a:xfrm>
          <a:prstGeom prst="rect">
            <a:avLst/>
          </a:prstGeom>
        </p:spPr>
      </p:pic>
      <p:pic>
        <p:nvPicPr>
          <p:cNvPr id="8" name="Picture 7"/>
          <p:cNvPicPr>
            <a:picLocks noChangeAspect="1"/>
          </p:cNvPicPr>
          <p:nvPr/>
        </p:nvPicPr>
        <p:blipFill>
          <a:blip r:embed="rId5"/>
          <a:stretch>
            <a:fillRect/>
          </a:stretch>
        </p:blipFill>
        <p:spPr>
          <a:xfrm>
            <a:off x="3300413" y="3843393"/>
            <a:ext cx="4515583" cy="2816759"/>
          </a:xfrm>
          <a:prstGeom prst="rect">
            <a:avLst/>
          </a:prstGeom>
        </p:spPr>
      </p:pic>
      <p:sp>
        <p:nvSpPr>
          <p:cNvPr id="18" name="Title 1"/>
          <p:cNvSpPr txBox="1">
            <a:spLocks/>
          </p:cNvSpPr>
          <p:nvPr/>
        </p:nvSpPr>
        <p:spPr>
          <a:xfrm>
            <a:off x="0" y="0"/>
            <a:ext cx="7578968" cy="514238"/>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smtClean="0">
                <a:latin typeface="Century Gothic" panose="020B0502020202020204" pitchFamily="34" charset="0"/>
              </a:rPr>
              <a:t>SALES ANALYSIS FOR EACH PRODUCT CATEGORY </a:t>
            </a:r>
            <a:endParaRPr lang="en-US" sz="2800" b="1" dirty="0">
              <a:latin typeface="Century Gothic" panose="020B0502020202020204" pitchFamily="34" charset="0"/>
            </a:endParaRPr>
          </a:p>
        </p:txBody>
      </p:sp>
    </p:spTree>
    <p:extLst>
      <p:ext uri="{BB962C8B-B14F-4D97-AF65-F5344CB8AC3E}">
        <p14:creationId xmlns:p14="http://schemas.microsoft.com/office/powerpoint/2010/main" val="1078053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ctrTitle"/>
          </p:nvPr>
        </p:nvSpPr>
        <p:spPr>
          <a:xfrm>
            <a:off x="0" y="0"/>
            <a:ext cx="7578968" cy="514238"/>
          </a:xfrm>
        </p:spPr>
        <p:txBody>
          <a:bodyPr>
            <a:normAutofit fontScale="90000"/>
          </a:bodyPr>
          <a:lstStyle/>
          <a:p>
            <a:pPr algn="l"/>
            <a:r>
              <a:rPr lang="en-US" sz="2800" b="1" dirty="0" smtClean="0">
                <a:latin typeface="Century Gothic" panose="020B0502020202020204" pitchFamily="34" charset="0"/>
              </a:rPr>
              <a:t>SALES ANALYSIS FOR EACH PRODUCT CATEGORY </a:t>
            </a:r>
            <a:endParaRPr lang="en-US" sz="2800" b="1" dirty="0">
              <a:latin typeface="Century Gothic" panose="020B0502020202020204" pitchFamily="34" charset="0"/>
            </a:endParaRPr>
          </a:p>
        </p:txBody>
      </p:sp>
      <p:sp>
        <p:nvSpPr>
          <p:cNvPr id="13" name="Rectangle 12"/>
          <p:cNvSpPr/>
          <p:nvPr/>
        </p:nvSpPr>
        <p:spPr>
          <a:xfrm>
            <a:off x="0" y="3681245"/>
            <a:ext cx="3086952" cy="446276"/>
          </a:xfrm>
          <a:prstGeom prst="rect">
            <a:avLst/>
          </a:prstGeom>
        </p:spPr>
        <p:txBody>
          <a:bodyPr wrap="square">
            <a:spAutoFit/>
          </a:bodyPr>
          <a:lstStyle/>
          <a:p>
            <a:pPr algn="just"/>
            <a:r>
              <a:rPr lang="en-US" sz="2300" b="1" dirty="0" smtClean="0">
                <a:latin typeface="Century Gothic" panose="020B0502020202020204" pitchFamily="34" charset="0"/>
              </a:rPr>
              <a:t>TV AND VIDEO</a:t>
            </a:r>
            <a:endParaRPr lang="en-US" sz="2300" b="1" dirty="0">
              <a:latin typeface="Century Gothic" panose="020B0502020202020204" pitchFamily="34" charset="0"/>
            </a:endParaRPr>
          </a:p>
        </p:txBody>
      </p:sp>
      <p:sp>
        <p:nvSpPr>
          <p:cNvPr id="12" name="Rectangle 11"/>
          <p:cNvSpPr/>
          <p:nvPr/>
        </p:nvSpPr>
        <p:spPr>
          <a:xfrm>
            <a:off x="-76200" y="563111"/>
            <a:ext cx="3086952" cy="800219"/>
          </a:xfrm>
          <a:prstGeom prst="rect">
            <a:avLst/>
          </a:prstGeom>
        </p:spPr>
        <p:txBody>
          <a:bodyPr wrap="square">
            <a:spAutoFit/>
          </a:bodyPr>
          <a:lstStyle/>
          <a:p>
            <a:pPr algn="just"/>
            <a:r>
              <a:rPr lang="en-US" sz="2300" b="1" dirty="0" smtClean="0">
                <a:latin typeface="Century Gothic" panose="020B0502020202020204" pitchFamily="34" charset="0"/>
              </a:rPr>
              <a:t>MUSIC, MOVIES AND AUDIO BOOKS</a:t>
            </a:r>
            <a:endParaRPr lang="en-US" sz="2300" b="1" dirty="0">
              <a:latin typeface="Century Gothic" panose="020B0502020202020204" pitchFamily="34" charset="0"/>
            </a:endParaRPr>
          </a:p>
        </p:txBody>
      </p:sp>
      <p:pic>
        <p:nvPicPr>
          <p:cNvPr id="16" name="Picture 15"/>
          <p:cNvPicPr>
            <a:picLocks noChangeAspect="1"/>
          </p:cNvPicPr>
          <p:nvPr/>
        </p:nvPicPr>
        <p:blipFill>
          <a:blip r:embed="rId2"/>
          <a:stretch>
            <a:fillRect/>
          </a:stretch>
        </p:blipFill>
        <p:spPr>
          <a:xfrm>
            <a:off x="7738725" y="191755"/>
            <a:ext cx="4467225" cy="1171575"/>
          </a:xfrm>
          <a:prstGeom prst="rect">
            <a:avLst/>
          </a:prstGeom>
        </p:spPr>
      </p:pic>
      <p:pic>
        <p:nvPicPr>
          <p:cNvPr id="17" name="Picture 16"/>
          <p:cNvPicPr>
            <a:picLocks noChangeAspect="1"/>
          </p:cNvPicPr>
          <p:nvPr/>
        </p:nvPicPr>
        <p:blipFill>
          <a:blip r:embed="rId3"/>
          <a:stretch>
            <a:fillRect/>
          </a:stretch>
        </p:blipFill>
        <p:spPr>
          <a:xfrm>
            <a:off x="7920042" y="3681245"/>
            <a:ext cx="4285908" cy="1146549"/>
          </a:xfrm>
          <a:prstGeom prst="rect">
            <a:avLst/>
          </a:prstGeom>
        </p:spPr>
      </p:pic>
      <p:pic>
        <p:nvPicPr>
          <p:cNvPr id="18" name="Picture 17"/>
          <p:cNvPicPr>
            <a:picLocks noChangeAspect="1"/>
          </p:cNvPicPr>
          <p:nvPr/>
        </p:nvPicPr>
        <p:blipFill>
          <a:blip r:embed="rId4"/>
          <a:stretch>
            <a:fillRect/>
          </a:stretch>
        </p:blipFill>
        <p:spPr>
          <a:xfrm>
            <a:off x="3170508" y="963220"/>
            <a:ext cx="4408461" cy="2762058"/>
          </a:xfrm>
          <a:prstGeom prst="rect">
            <a:avLst/>
          </a:prstGeom>
        </p:spPr>
      </p:pic>
      <p:pic>
        <p:nvPicPr>
          <p:cNvPr id="19" name="Picture 18"/>
          <p:cNvPicPr>
            <a:picLocks noChangeAspect="1"/>
          </p:cNvPicPr>
          <p:nvPr/>
        </p:nvPicPr>
        <p:blipFill>
          <a:blip r:embed="rId5"/>
          <a:stretch>
            <a:fillRect/>
          </a:stretch>
        </p:blipFill>
        <p:spPr>
          <a:xfrm>
            <a:off x="3010751" y="3917631"/>
            <a:ext cx="4568217" cy="2843939"/>
          </a:xfrm>
          <a:prstGeom prst="rect">
            <a:avLst/>
          </a:prstGeom>
        </p:spPr>
      </p:pic>
    </p:spTree>
    <p:extLst>
      <p:ext uri="{BB962C8B-B14F-4D97-AF65-F5344CB8AC3E}">
        <p14:creationId xmlns:p14="http://schemas.microsoft.com/office/powerpoint/2010/main" val="37313297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ctrTitle"/>
          </p:nvPr>
        </p:nvSpPr>
        <p:spPr>
          <a:xfrm>
            <a:off x="0" y="0"/>
            <a:ext cx="6477000" cy="514238"/>
          </a:xfrm>
        </p:spPr>
        <p:txBody>
          <a:bodyPr>
            <a:normAutofit/>
          </a:bodyPr>
          <a:lstStyle/>
          <a:p>
            <a:pPr algn="l"/>
            <a:r>
              <a:rPr lang="en-US" sz="2800" b="1" dirty="0" smtClean="0">
                <a:latin typeface="Century Gothic" panose="020B0502020202020204" pitchFamily="34" charset="0"/>
              </a:rPr>
              <a:t>PRODUCT PROMOTION ANALYSIS</a:t>
            </a:r>
            <a:endParaRPr lang="en-US" sz="2800" b="1" dirty="0">
              <a:latin typeface="Century Gothic" panose="020B0502020202020204" pitchFamily="34" charset="0"/>
            </a:endParaRPr>
          </a:p>
        </p:txBody>
      </p:sp>
      <p:pic>
        <p:nvPicPr>
          <p:cNvPr id="2" name="Picture 1"/>
          <p:cNvPicPr>
            <a:picLocks noChangeAspect="1"/>
          </p:cNvPicPr>
          <p:nvPr/>
        </p:nvPicPr>
        <p:blipFill>
          <a:blip r:embed="rId2"/>
          <a:stretch>
            <a:fillRect/>
          </a:stretch>
        </p:blipFill>
        <p:spPr>
          <a:xfrm>
            <a:off x="171449" y="3548693"/>
            <a:ext cx="4955722" cy="3226665"/>
          </a:xfrm>
          <a:prstGeom prst="rect">
            <a:avLst/>
          </a:prstGeom>
        </p:spPr>
      </p:pic>
      <p:sp>
        <p:nvSpPr>
          <p:cNvPr id="11" name="Subtitle 2"/>
          <p:cNvSpPr>
            <a:spLocks noGrp="1"/>
          </p:cNvSpPr>
          <p:nvPr>
            <p:ph type="subTitle" idx="1"/>
          </p:nvPr>
        </p:nvSpPr>
        <p:spPr>
          <a:xfrm>
            <a:off x="6760030" y="5162025"/>
            <a:ext cx="4463145" cy="922824"/>
          </a:xfrm>
        </p:spPr>
        <p:txBody>
          <a:bodyPr>
            <a:noAutofit/>
          </a:bodyPr>
          <a:lstStyle/>
          <a:p>
            <a:pPr algn="just"/>
            <a:r>
              <a:rPr lang="en-US" sz="1600" dirty="0" smtClean="0">
                <a:latin typeface="Century Gothic" panose="020B0502020202020204" pitchFamily="34" charset="0"/>
              </a:rPr>
              <a:t>Looking at the promotion type analysis for the period under review, the </a:t>
            </a:r>
            <a:r>
              <a:rPr lang="en-US" sz="1600" b="1" dirty="0" smtClean="0">
                <a:latin typeface="Century Gothic" panose="020B0502020202020204" pitchFamily="34" charset="0"/>
              </a:rPr>
              <a:t>“Seasonal Discount”</a:t>
            </a:r>
            <a:r>
              <a:rPr lang="en-US" sz="1600" dirty="0" smtClean="0">
                <a:latin typeface="Century Gothic" panose="020B0502020202020204" pitchFamily="34" charset="0"/>
              </a:rPr>
              <a:t> yielded better result across all products compared to </a:t>
            </a:r>
            <a:r>
              <a:rPr lang="en-US" sz="1600" b="1" dirty="0" smtClean="0">
                <a:latin typeface="Century Gothic" panose="020B0502020202020204" pitchFamily="34" charset="0"/>
              </a:rPr>
              <a:t>“No Discount”</a:t>
            </a:r>
            <a:endParaRPr lang="en-US" sz="1600" b="1" dirty="0">
              <a:latin typeface="Century Gothic" panose="020B0502020202020204" pitchFamily="34" charset="0"/>
            </a:endParaRPr>
          </a:p>
        </p:txBody>
      </p:sp>
      <p:sp>
        <p:nvSpPr>
          <p:cNvPr id="16" name="Subtitle 2"/>
          <p:cNvSpPr txBox="1">
            <a:spLocks/>
          </p:cNvSpPr>
          <p:nvPr/>
        </p:nvSpPr>
        <p:spPr>
          <a:xfrm>
            <a:off x="6760030" y="1492573"/>
            <a:ext cx="4463145" cy="92282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smtClean="0">
                <a:latin typeface="Century Gothic" panose="020B0502020202020204" pitchFamily="34" charset="0"/>
              </a:rPr>
              <a:t>Based on the analysis carried out for the revenue performance for the different types of promotions applied , </a:t>
            </a:r>
            <a:r>
              <a:rPr lang="en-US" sz="1600" b="1" dirty="0" smtClean="0">
                <a:latin typeface="Century Gothic" panose="020B0502020202020204" pitchFamily="34" charset="0"/>
              </a:rPr>
              <a:t>“Regular Sales”</a:t>
            </a:r>
            <a:r>
              <a:rPr lang="en-US" sz="1600" dirty="0" smtClean="0">
                <a:latin typeface="Century Gothic" panose="020B0502020202020204" pitchFamily="34" charset="0"/>
              </a:rPr>
              <a:t> generated the highest revenue while </a:t>
            </a:r>
            <a:r>
              <a:rPr lang="en-US" sz="1600" b="1" dirty="0" smtClean="0">
                <a:latin typeface="Century Gothic" panose="020B0502020202020204" pitchFamily="34" charset="0"/>
              </a:rPr>
              <a:t>“Easter promotion” </a:t>
            </a:r>
            <a:r>
              <a:rPr lang="en-US" sz="1600" dirty="0" smtClean="0">
                <a:latin typeface="Century Gothic" panose="020B0502020202020204" pitchFamily="34" charset="0"/>
              </a:rPr>
              <a:t>had the highest profit margin with a profit margin of </a:t>
            </a:r>
            <a:r>
              <a:rPr lang="en-US" sz="1600" b="1" dirty="0" smtClean="0">
                <a:latin typeface="Century Gothic" panose="020B0502020202020204" pitchFamily="34" charset="0"/>
              </a:rPr>
              <a:t>56%.</a:t>
            </a:r>
            <a:endParaRPr lang="en-US" sz="1600" b="1" dirty="0">
              <a:latin typeface="Century Gothic" panose="020B0502020202020204" pitchFamily="34" charset="0"/>
            </a:endParaRPr>
          </a:p>
        </p:txBody>
      </p:sp>
      <p:pic>
        <p:nvPicPr>
          <p:cNvPr id="19" name="Picture 18"/>
          <p:cNvPicPr>
            <a:picLocks noChangeAspect="1"/>
          </p:cNvPicPr>
          <p:nvPr/>
        </p:nvPicPr>
        <p:blipFill>
          <a:blip r:embed="rId3"/>
          <a:stretch>
            <a:fillRect/>
          </a:stretch>
        </p:blipFill>
        <p:spPr>
          <a:xfrm>
            <a:off x="171449" y="715053"/>
            <a:ext cx="5814955" cy="2365603"/>
          </a:xfrm>
          <a:prstGeom prst="rect">
            <a:avLst/>
          </a:prstGeom>
        </p:spPr>
      </p:pic>
    </p:spTree>
    <p:extLst>
      <p:ext uri="{BB962C8B-B14F-4D97-AF65-F5344CB8AC3E}">
        <p14:creationId xmlns:p14="http://schemas.microsoft.com/office/powerpoint/2010/main" val="398905494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ctrTitle"/>
          </p:nvPr>
        </p:nvSpPr>
        <p:spPr>
          <a:xfrm>
            <a:off x="0" y="0"/>
            <a:ext cx="6477000" cy="514238"/>
          </a:xfrm>
        </p:spPr>
        <p:txBody>
          <a:bodyPr>
            <a:normAutofit/>
          </a:bodyPr>
          <a:lstStyle/>
          <a:p>
            <a:pPr algn="l"/>
            <a:r>
              <a:rPr lang="en-US" sz="2800" b="1" dirty="0" smtClean="0">
                <a:latin typeface="Century Gothic" panose="020B0502020202020204" pitchFamily="34" charset="0"/>
              </a:rPr>
              <a:t>PRODUCT PROMOTION ANALYSIS</a:t>
            </a:r>
            <a:endParaRPr lang="en-US" sz="2800" b="1" dirty="0">
              <a:latin typeface="Century Gothic" panose="020B0502020202020204" pitchFamily="34" charset="0"/>
            </a:endParaRPr>
          </a:p>
        </p:txBody>
      </p:sp>
      <p:pic>
        <p:nvPicPr>
          <p:cNvPr id="7" name="Picture 6"/>
          <p:cNvPicPr>
            <a:picLocks noChangeAspect="1"/>
          </p:cNvPicPr>
          <p:nvPr/>
        </p:nvPicPr>
        <p:blipFill>
          <a:blip r:embed="rId2"/>
          <a:stretch>
            <a:fillRect/>
          </a:stretch>
        </p:blipFill>
        <p:spPr>
          <a:xfrm>
            <a:off x="367391" y="674913"/>
            <a:ext cx="9326996" cy="5704116"/>
          </a:xfrm>
          <a:prstGeom prst="rect">
            <a:avLst/>
          </a:prstGeom>
        </p:spPr>
      </p:pic>
      <p:sp>
        <p:nvSpPr>
          <p:cNvPr id="9" name="Subtitle 2"/>
          <p:cNvSpPr txBox="1">
            <a:spLocks/>
          </p:cNvSpPr>
          <p:nvPr/>
        </p:nvSpPr>
        <p:spPr>
          <a:xfrm>
            <a:off x="7293429" y="1198512"/>
            <a:ext cx="4463145" cy="92282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600" dirty="0" smtClean="0">
                <a:latin typeface="Century Gothic" panose="020B0502020202020204" pitchFamily="34" charset="0"/>
              </a:rPr>
              <a:t>In comparing the effect of the </a:t>
            </a:r>
            <a:r>
              <a:rPr lang="en-US" sz="1600" b="1" dirty="0" smtClean="0">
                <a:latin typeface="Century Gothic" panose="020B0502020202020204" pitchFamily="34" charset="0"/>
              </a:rPr>
              <a:t>“Promotion name” </a:t>
            </a:r>
            <a:r>
              <a:rPr lang="en-US" sz="1600" dirty="0" smtClean="0">
                <a:latin typeface="Century Gothic" panose="020B0502020202020204" pitchFamily="34" charset="0"/>
              </a:rPr>
              <a:t>on each product, we can see that </a:t>
            </a:r>
            <a:r>
              <a:rPr lang="en-US" sz="1600" b="1" dirty="0" smtClean="0">
                <a:latin typeface="Century Gothic" panose="020B0502020202020204" pitchFamily="34" charset="0"/>
              </a:rPr>
              <a:t>“Regular Sales” </a:t>
            </a:r>
            <a:r>
              <a:rPr lang="en-US" sz="1600" dirty="0" smtClean="0">
                <a:latin typeface="Century Gothic" panose="020B0502020202020204" pitchFamily="34" charset="0"/>
              </a:rPr>
              <a:t>gave better result compared to others, across all products.</a:t>
            </a:r>
            <a:endParaRPr lang="en-US" sz="1600" dirty="0">
              <a:latin typeface="Century Gothic" panose="020B0502020202020204" pitchFamily="34" charset="0"/>
            </a:endParaRPr>
          </a:p>
        </p:txBody>
      </p:sp>
    </p:spTree>
    <p:extLst>
      <p:ext uri="{BB962C8B-B14F-4D97-AF65-F5344CB8AC3E}">
        <p14:creationId xmlns:p14="http://schemas.microsoft.com/office/powerpoint/2010/main" val="34327367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ctrTitle"/>
          </p:nvPr>
        </p:nvSpPr>
        <p:spPr>
          <a:xfrm>
            <a:off x="0" y="0"/>
            <a:ext cx="6477000" cy="514238"/>
          </a:xfrm>
        </p:spPr>
        <p:txBody>
          <a:bodyPr>
            <a:normAutofit/>
          </a:bodyPr>
          <a:lstStyle/>
          <a:p>
            <a:pPr algn="l"/>
            <a:r>
              <a:rPr lang="en-US" sz="2800" b="1" dirty="0" smtClean="0">
                <a:latin typeface="Century Gothic" panose="020B0502020202020204" pitchFamily="34" charset="0"/>
              </a:rPr>
              <a:t>PROFIT MARGIN ANALYSIS</a:t>
            </a:r>
            <a:endParaRPr lang="en-US" sz="2800" b="1" dirty="0">
              <a:latin typeface="Century Gothic" panose="020B0502020202020204" pitchFamily="34" charset="0"/>
            </a:endParaRPr>
          </a:p>
        </p:txBody>
      </p:sp>
      <p:sp>
        <p:nvSpPr>
          <p:cNvPr id="9" name="Rectangle 8"/>
          <p:cNvSpPr/>
          <p:nvPr/>
        </p:nvSpPr>
        <p:spPr>
          <a:xfrm>
            <a:off x="5475514" y="793298"/>
            <a:ext cx="5573486" cy="1077218"/>
          </a:xfrm>
          <a:prstGeom prst="rect">
            <a:avLst/>
          </a:prstGeom>
        </p:spPr>
        <p:txBody>
          <a:bodyPr wrap="square">
            <a:spAutoFit/>
          </a:bodyPr>
          <a:lstStyle/>
          <a:p>
            <a:pPr algn="just"/>
            <a:r>
              <a:rPr lang="en-US" sz="1600" dirty="0">
                <a:latin typeface="Century Gothic" panose="020B0502020202020204" pitchFamily="34" charset="0"/>
              </a:rPr>
              <a:t>In terms of </a:t>
            </a:r>
            <a:r>
              <a:rPr lang="en-US" sz="1600" dirty="0" smtClean="0">
                <a:latin typeface="Century Gothic" panose="020B0502020202020204" pitchFamily="34" charset="0"/>
              </a:rPr>
              <a:t>Overall profit margin, </a:t>
            </a:r>
            <a:r>
              <a:rPr lang="en-US" sz="1600" b="1" dirty="0" smtClean="0">
                <a:latin typeface="Century Gothic" panose="020B0502020202020204" pitchFamily="34" charset="0"/>
              </a:rPr>
              <a:t>“Cameras and camcorders”</a:t>
            </a:r>
            <a:r>
              <a:rPr lang="en-US" sz="1600" dirty="0" smtClean="0">
                <a:latin typeface="Century Gothic" panose="020B0502020202020204" pitchFamily="34" charset="0"/>
              </a:rPr>
              <a:t> and </a:t>
            </a:r>
            <a:r>
              <a:rPr lang="en-US" sz="1600" b="1" dirty="0" smtClean="0">
                <a:latin typeface="Century Gothic" panose="020B0502020202020204" pitchFamily="34" charset="0"/>
              </a:rPr>
              <a:t>“Music, Movies and Audio Books” </a:t>
            </a:r>
            <a:r>
              <a:rPr lang="en-US" sz="1600" dirty="0" smtClean="0">
                <a:latin typeface="Century Gothic" panose="020B0502020202020204" pitchFamily="34" charset="0"/>
              </a:rPr>
              <a:t>had the overall profit margin with an average profit margin of </a:t>
            </a:r>
            <a:r>
              <a:rPr lang="en-US" sz="1600" b="1" dirty="0" smtClean="0">
                <a:latin typeface="Century Gothic" panose="020B0502020202020204" pitchFamily="34" charset="0"/>
              </a:rPr>
              <a:t>57% </a:t>
            </a:r>
            <a:r>
              <a:rPr lang="en-US" sz="1600" dirty="0">
                <a:latin typeface="Century Gothic" panose="020B0502020202020204" pitchFamily="34" charset="0"/>
              </a:rPr>
              <a:t>for the </a:t>
            </a:r>
            <a:r>
              <a:rPr lang="en-US" sz="1600" dirty="0" smtClean="0">
                <a:latin typeface="Century Gothic" panose="020B0502020202020204" pitchFamily="34" charset="0"/>
              </a:rPr>
              <a:t>period under review.</a:t>
            </a:r>
            <a:endParaRPr lang="en-US" sz="1600" dirty="0">
              <a:latin typeface="Century Gothic" panose="020B0502020202020204" pitchFamily="34" charset="0"/>
            </a:endParaRPr>
          </a:p>
        </p:txBody>
      </p:sp>
      <p:pic>
        <p:nvPicPr>
          <p:cNvPr id="13" name="Picture 12"/>
          <p:cNvPicPr>
            <a:picLocks noChangeAspect="1"/>
          </p:cNvPicPr>
          <p:nvPr/>
        </p:nvPicPr>
        <p:blipFill>
          <a:blip r:embed="rId2"/>
          <a:stretch>
            <a:fillRect/>
          </a:stretch>
        </p:blipFill>
        <p:spPr>
          <a:xfrm>
            <a:off x="5722668" y="2286000"/>
            <a:ext cx="6115959" cy="4560758"/>
          </a:xfrm>
          <a:prstGeom prst="rect">
            <a:avLst/>
          </a:prstGeom>
        </p:spPr>
      </p:pic>
      <p:pic>
        <p:nvPicPr>
          <p:cNvPr id="15" name="Picture 14"/>
          <p:cNvPicPr>
            <a:picLocks noChangeAspect="1"/>
          </p:cNvPicPr>
          <p:nvPr/>
        </p:nvPicPr>
        <p:blipFill>
          <a:blip r:embed="rId3"/>
          <a:stretch>
            <a:fillRect/>
          </a:stretch>
        </p:blipFill>
        <p:spPr>
          <a:xfrm>
            <a:off x="294593" y="3009906"/>
            <a:ext cx="4810125" cy="3581400"/>
          </a:xfrm>
          <a:prstGeom prst="rect">
            <a:avLst/>
          </a:prstGeom>
        </p:spPr>
      </p:pic>
      <p:pic>
        <p:nvPicPr>
          <p:cNvPr id="2" name="Picture 1"/>
          <p:cNvPicPr>
            <a:picLocks noChangeAspect="1"/>
          </p:cNvPicPr>
          <p:nvPr/>
        </p:nvPicPr>
        <p:blipFill>
          <a:blip r:embed="rId4"/>
          <a:stretch>
            <a:fillRect/>
          </a:stretch>
        </p:blipFill>
        <p:spPr>
          <a:xfrm>
            <a:off x="217715" y="416266"/>
            <a:ext cx="4604657" cy="2421709"/>
          </a:xfrm>
          <a:prstGeom prst="rect">
            <a:avLst/>
          </a:prstGeom>
        </p:spPr>
      </p:pic>
    </p:spTree>
    <p:extLst>
      <p:ext uri="{BB962C8B-B14F-4D97-AF65-F5344CB8AC3E}">
        <p14:creationId xmlns:p14="http://schemas.microsoft.com/office/powerpoint/2010/main" val="28290997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ctrTitle"/>
          </p:nvPr>
        </p:nvSpPr>
        <p:spPr>
          <a:xfrm>
            <a:off x="0" y="0"/>
            <a:ext cx="6477000" cy="514238"/>
          </a:xfrm>
        </p:spPr>
        <p:txBody>
          <a:bodyPr>
            <a:normAutofit/>
          </a:bodyPr>
          <a:lstStyle/>
          <a:p>
            <a:pPr algn="l"/>
            <a:r>
              <a:rPr lang="en-US" sz="2800" b="1" dirty="0" smtClean="0">
                <a:latin typeface="Century Gothic" panose="020B0502020202020204" pitchFamily="34" charset="0"/>
              </a:rPr>
              <a:t>PROFIT MARGIN ANALYSIS</a:t>
            </a:r>
            <a:endParaRPr lang="en-US" sz="2800" b="1" dirty="0">
              <a:latin typeface="Century Gothic" panose="020B0502020202020204" pitchFamily="34" charset="0"/>
            </a:endParaRPr>
          </a:p>
        </p:txBody>
      </p:sp>
      <p:grpSp>
        <p:nvGrpSpPr>
          <p:cNvPr id="13" name="Group 12"/>
          <p:cNvGrpSpPr/>
          <p:nvPr/>
        </p:nvGrpSpPr>
        <p:grpSpPr>
          <a:xfrm>
            <a:off x="87085" y="644866"/>
            <a:ext cx="12017829" cy="6042932"/>
            <a:chOff x="0" y="662667"/>
            <a:chExt cx="12192000" cy="6042932"/>
          </a:xfrm>
        </p:grpSpPr>
        <p:pic>
          <p:nvPicPr>
            <p:cNvPr id="4" name="Picture 3"/>
            <p:cNvPicPr>
              <a:picLocks noChangeAspect="1"/>
            </p:cNvPicPr>
            <p:nvPr/>
          </p:nvPicPr>
          <p:blipFill>
            <a:blip r:embed="rId2"/>
            <a:stretch>
              <a:fillRect/>
            </a:stretch>
          </p:blipFill>
          <p:spPr>
            <a:xfrm>
              <a:off x="0" y="662667"/>
              <a:ext cx="10814841" cy="6042932"/>
            </a:xfrm>
            <a:prstGeom prst="rect">
              <a:avLst/>
            </a:prstGeom>
          </p:spPr>
        </p:pic>
        <p:pic>
          <p:nvPicPr>
            <p:cNvPr id="7" name="Picture 6"/>
            <p:cNvPicPr>
              <a:picLocks noChangeAspect="1"/>
            </p:cNvPicPr>
            <p:nvPr/>
          </p:nvPicPr>
          <p:blipFill>
            <a:blip r:embed="rId3"/>
            <a:stretch>
              <a:fillRect/>
            </a:stretch>
          </p:blipFill>
          <p:spPr>
            <a:xfrm>
              <a:off x="10734675" y="5727245"/>
              <a:ext cx="1457325" cy="978353"/>
            </a:xfrm>
            <a:prstGeom prst="rect">
              <a:avLst/>
            </a:prstGeom>
          </p:spPr>
        </p:pic>
        <p:pic>
          <p:nvPicPr>
            <p:cNvPr id="8" name="Picture 7"/>
            <p:cNvPicPr>
              <a:picLocks noChangeAspect="1"/>
            </p:cNvPicPr>
            <p:nvPr/>
          </p:nvPicPr>
          <p:blipFill>
            <a:blip r:embed="rId4"/>
            <a:stretch>
              <a:fillRect/>
            </a:stretch>
          </p:blipFill>
          <p:spPr>
            <a:xfrm>
              <a:off x="10620374" y="5727244"/>
              <a:ext cx="131913" cy="978354"/>
            </a:xfrm>
            <a:prstGeom prst="rect">
              <a:avLst/>
            </a:prstGeom>
          </p:spPr>
        </p:pic>
        <p:pic>
          <p:nvPicPr>
            <p:cNvPr id="11" name="Picture 10"/>
            <p:cNvPicPr>
              <a:picLocks noChangeAspect="1"/>
            </p:cNvPicPr>
            <p:nvPr/>
          </p:nvPicPr>
          <p:blipFill>
            <a:blip r:embed="rId5"/>
            <a:stretch>
              <a:fillRect/>
            </a:stretch>
          </p:blipFill>
          <p:spPr>
            <a:xfrm>
              <a:off x="10866588" y="5835421"/>
              <a:ext cx="1028700" cy="762000"/>
            </a:xfrm>
            <a:prstGeom prst="rect">
              <a:avLst/>
            </a:prstGeom>
          </p:spPr>
        </p:pic>
      </p:grpSp>
    </p:spTree>
    <p:extLst>
      <p:ext uri="{BB962C8B-B14F-4D97-AF65-F5344CB8AC3E}">
        <p14:creationId xmlns:p14="http://schemas.microsoft.com/office/powerpoint/2010/main" val="25315098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0" y="21771"/>
            <a:ext cx="12192000" cy="587829"/>
          </a:xfrm>
        </p:spPr>
        <p:txBody>
          <a:bodyPr>
            <a:normAutofit fontScale="90000"/>
          </a:bodyPr>
          <a:lstStyle/>
          <a:p>
            <a:pPr algn="l"/>
            <a:r>
              <a:rPr lang="en-US" sz="4800" b="1" dirty="0" smtClean="0">
                <a:latin typeface="+mn-lt"/>
              </a:rPr>
              <a:t>RECOMMENDATIONS</a:t>
            </a:r>
            <a:endParaRPr lang="en-US" sz="4800" b="1" dirty="0">
              <a:latin typeface="+mn-lt"/>
            </a:endParaRPr>
          </a:p>
        </p:txBody>
      </p:sp>
      <p:sp>
        <p:nvSpPr>
          <p:cNvPr id="5" name="Subtitle 2"/>
          <p:cNvSpPr>
            <a:spLocks noGrp="1"/>
          </p:cNvSpPr>
          <p:nvPr>
            <p:ph type="subTitle" idx="1"/>
          </p:nvPr>
        </p:nvSpPr>
        <p:spPr>
          <a:xfrm>
            <a:off x="0" y="587828"/>
            <a:ext cx="12191999" cy="6270172"/>
          </a:xfrm>
        </p:spPr>
        <p:txBody>
          <a:bodyPr>
            <a:noAutofit/>
          </a:bodyPr>
          <a:lstStyle/>
          <a:p>
            <a:pPr marL="342900" indent="-342900" algn="just">
              <a:buFont typeface="Arial" panose="020B0604020202020204" pitchFamily="34" charset="0"/>
              <a:buChar char="•"/>
            </a:pPr>
            <a:r>
              <a:rPr lang="en-US" dirty="0" smtClean="0"/>
              <a:t>The key products that were the drivers of performance are “Computers”, and “Cameras and Camcorders”.</a:t>
            </a:r>
          </a:p>
          <a:p>
            <a:pPr marL="342900" indent="-342900" algn="just">
              <a:buFont typeface="Arial" panose="020B0604020202020204" pitchFamily="34" charset="0"/>
              <a:buChar char="•"/>
            </a:pPr>
            <a:r>
              <a:rPr lang="en-US" dirty="0" smtClean="0"/>
              <a:t>All products performed well during the course of the year. However, if there will be a need to discontinue any product it will be “TV and Video”. This is because of its low profit margin (52%) and its cost </a:t>
            </a:r>
            <a:r>
              <a:rPr lang="en-US" dirty="0"/>
              <a:t>– to – </a:t>
            </a:r>
            <a:r>
              <a:rPr lang="en-US" dirty="0" smtClean="0"/>
              <a:t>revenue ratio (46%), which is the highest among the product categories. </a:t>
            </a:r>
          </a:p>
          <a:p>
            <a:pPr marL="342900" indent="-342900" algn="just">
              <a:buFont typeface="Arial" panose="020B0604020202020204" pitchFamily="34" charset="0"/>
              <a:buChar char="•"/>
            </a:pPr>
            <a:r>
              <a:rPr lang="en-US" dirty="0" smtClean="0"/>
              <a:t>In </a:t>
            </a:r>
            <a:r>
              <a:rPr lang="en-US" dirty="0"/>
              <a:t>terms of promos/discount, the </a:t>
            </a:r>
            <a:r>
              <a:rPr lang="en-US" dirty="0" smtClean="0"/>
              <a:t>seasonal discount promo should be more encouraged in </a:t>
            </a:r>
            <a:r>
              <a:rPr lang="en-US" dirty="0"/>
              <a:t>order to improve the profit of the organization.</a:t>
            </a:r>
          </a:p>
          <a:p>
            <a:pPr algn="just"/>
            <a:endParaRPr lang="en-US" dirty="0" smtClean="0"/>
          </a:p>
          <a:p>
            <a:pPr marL="342900" indent="-342900" algn="just">
              <a:buFont typeface="Arial" panose="020B0604020202020204" pitchFamily="34" charset="0"/>
              <a:buChar char="•"/>
            </a:pPr>
            <a:endParaRPr lang="en-US" dirty="0" smtClean="0"/>
          </a:p>
          <a:p>
            <a:pPr marL="342900" indent="-342900" algn="just">
              <a:buFont typeface="Arial" panose="020B0604020202020204" pitchFamily="34" charset="0"/>
              <a:buChar char="•"/>
            </a:pPr>
            <a:endParaRPr lang="en-US" dirty="0"/>
          </a:p>
        </p:txBody>
      </p:sp>
    </p:spTree>
    <p:extLst>
      <p:ext uri="{BB962C8B-B14F-4D97-AF65-F5344CB8AC3E}">
        <p14:creationId xmlns:p14="http://schemas.microsoft.com/office/powerpoint/2010/main" val="14153908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0" y="-1"/>
            <a:ext cx="12192000" cy="587829"/>
          </a:xfrm>
        </p:spPr>
        <p:txBody>
          <a:bodyPr>
            <a:normAutofit fontScale="90000"/>
          </a:bodyPr>
          <a:lstStyle/>
          <a:p>
            <a:pPr algn="l"/>
            <a:r>
              <a:rPr lang="en-US" sz="4800" b="1" dirty="0" smtClean="0">
                <a:latin typeface="+mn-lt"/>
              </a:rPr>
              <a:t>CONCLUSION</a:t>
            </a:r>
            <a:endParaRPr lang="en-US" sz="4800" b="1" dirty="0">
              <a:latin typeface="+mn-lt"/>
            </a:endParaRPr>
          </a:p>
        </p:txBody>
      </p:sp>
      <p:sp>
        <p:nvSpPr>
          <p:cNvPr id="5" name="Subtitle 2"/>
          <p:cNvSpPr>
            <a:spLocks noGrp="1"/>
          </p:cNvSpPr>
          <p:nvPr>
            <p:ph type="subTitle" idx="1"/>
          </p:nvPr>
        </p:nvSpPr>
        <p:spPr>
          <a:xfrm>
            <a:off x="0" y="587828"/>
            <a:ext cx="12191999" cy="6270172"/>
          </a:xfrm>
        </p:spPr>
        <p:txBody>
          <a:bodyPr>
            <a:noAutofit/>
          </a:bodyPr>
          <a:lstStyle/>
          <a:p>
            <a:pPr marL="342900" indent="-342900" algn="just">
              <a:buFont typeface="Arial" panose="020B0604020202020204" pitchFamily="34" charset="0"/>
              <a:buChar char="•"/>
            </a:pPr>
            <a:r>
              <a:rPr lang="en-US" dirty="0" smtClean="0"/>
              <a:t>In conclusion, the period under review was a good year for Royalty Limited with a PAT of N32.4million. The company needs to work on reducing their cost – to – revenue ratio in order to have higher profit in the coming year. </a:t>
            </a:r>
          </a:p>
          <a:p>
            <a:pPr marL="342900" indent="-342900" algn="just">
              <a:buFont typeface="Arial" panose="020B0604020202020204" pitchFamily="34" charset="0"/>
              <a:buChar char="•"/>
            </a:pPr>
            <a:endParaRPr lang="en-US" dirty="0" smtClean="0"/>
          </a:p>
          <a:p>
            <a:pPr marL="342900" indent="-342900" algn="just">
              <a:buFont typeface="Arial" panose="020B0604020202020204" pitchFamily="34" charset="0"/>
              <a:buChar char="•"/>
            </a:pPr>
            <a:endParaRPr lang="en-US" dirty="0"/>
          </a:p>
        </p:txBody>
      </p:sp>
    </p:spTree>
    <p:extLst>
      <p:ext uri="{BB962C8B-B14F-4D97-AF65-F5344CB8AC3E}">
        <p14:creationId xmlns:p14="http://schemas.microsoft.com/office/powerpoint/2010/main" val="754005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1103</TotalTime>
  <Words>1698</Words>
  <Application>Microsoft Office PowerPoint</Application>
  <PresentationFormat>Widescreen</PresentationFormat>
  <Paragraphs>99</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Century Gothic</vt:lpstr>
      <vt:lpstr>Office Theme</vt:lpstr>
      <vt:lpstr>POWER BI ASSIGNMENT  PRESENTATION</vt:lpstr>
      <vt:lpstr>EXECUTIVE SUMMARY</vt:lpstr>
      <vt:lpstr>EXECUTIVE SUMMARY</vt:lpstr>
      <vt:lpstr>EXECUTIVE SUMMARY</vt:lpstr>
      <vt:lpstr>KEY FINDINGS</vt:lpstr>
      <vt:lpstr>KEY FINDINGS</vt:lpstr>
      <vt:lpstr>KEY FINDINGS</vt:lpstr>
      <vt:lpstr>SALES ANALYSIS FOR EACH PRODUCT IN 2014</vt:lpstr>
      <vt:lpstr>SALES ANALYSIS FOR EACH PRODUCT IN 2014</vt:lpstr>
      <vt:lpstr>SALES ANALYSIS FOR EACH PRODUCT IN 2014</vt:lpstr>
      <vt:lpstr>2013 Q4 VS 2014 Q4</vt:lpstr>
      <vt:lpstr>2013 Q4 VS 2014 Q4</vt:lpstr>
      <vt:lpstr>2013 Q4 VS 2014 Q4</vt:lpstr>
      <vt:lpstr>2013 Q4 VS 2014 Q4</vt:lpstr>
      <vt:lpstr>TAX ANALYSIS</vt:lpstr>
      <vt:lpstr>DISCOUNT BAND ANALYSIS</vt:lpstr>
      <vt:lpstr>RECOMMENDATIONS</vt:lpstr>
      <vt:lpstr>CONCLUSION</vt:lpstr>
      <vt:lpstr>EXECUTIVE SUMMARY</vt:lpstr>
      <vt:lpstr>EXECUTIVE SUMMARY</vt:lpstr>
      <vt:lpstr>EXECUTIVE SUMMARY</vt:lpstr>
      <vt:lpstr>EXECUTIVE SUMMARY</vt:lpstr>
      <vt:lpstr>KEY FINDINGS</vt:lpstr>
      <vt:lpstr>KEY FINDINGS</vt:lpstr>
      <vt:lpstr>KEY FINDINGS</vt:lpstr>
      <vt:lpstr>KEY FINDINGS</vt:lpstr>
      <vt:lpstr>KEY FINDINGS</vt:lpstr>
      <vt:lpstr>KEY FINDINGS</vt:lpstr>
      <vt:lpstr>PowerPoint Presentation</vt:lpstr>
      <vt:lpstr>PowerPoint Presentation</vt:lpstr>
      <vt:lpstr>SALES ANALYSIS FOR EACH PRODUCT CATEGORY </vt:lpstr>
      <vt:lpstr>PRODUCT PROMOTION ANALYSIS</vt:lpstr>
      <vt:lpstr>PRODUCT PROMOTION ANALYSIS</vt:lpstr>
      <vt:lpstr>PROFIT MARGIN ANALYSIS</vt:lpstr>
      <vt:lpstr>PROFIT MARGIN ANALYSIS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 ASSIGNMENT PRESENTATION</dc:title>
  <dc:creator>HP</dc:creator>
  <cp:lastModifiedBy>HP</cp:lastModifiedBy>
  <cp:revision>122</cp:revision>
  <dcterms:created xsi:type="dcterms:W3CDTF">2021-12-14T10:32:47Z</dcterms:created>
  <dcterms:modified xsi:type="dcterms:W3CDTF">2021-12-16T19:44:41Z</dcterms:modified>
</cp:coreProperties>
</file>